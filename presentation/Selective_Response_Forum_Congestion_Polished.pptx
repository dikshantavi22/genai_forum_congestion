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82880" cy="5303520"/>
          </a:xfrm>
          <a:prstGeom prst="rect">
            <a:avLst/>
          </a:prstGeom>
          <a:solidFill>
            <a:srgbClr val="1C7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822960"/>
            <a:ext cx="5760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"/>
              </a:rPr>
              <a:t>Selective Response for
GenAI Under Forum Congestion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24688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CE2EB"/>
                </a:solidFill>
                <a:latin typeface="Aptos"/>
              </a:rPr>
              <a:t>Game Theory 2026 mini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971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Dikshant Gupta (24108)   |   Paras Raina (24170)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3310128"/>
            <a:ext cx="4937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CE2EB"/>
                </a:solidFill>
                <a:latin typeface="Aptos"/>
              </a:rPr>
              <a:t>12 slides total: title + 10 content + thank you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914400"/>
            <a:ext cx="457200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eed_robustness_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078992"/>
            <a:ext cx="4206240" cy="14173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720840" y="3154680"/>
            <a:ext cx="457200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ollapse_boundary_c1_x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3319272"/>
            <a:ext cx="4206240" cy="1417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12280" y="544068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Big picture: selective response can help learning, but forums can also collapse under load.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20040"/>
            <a:ext cx="11475720" cy="109728"/>
          </a:xfrm>
          <a:prstGeom prst="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6355080"/>
            <a:ext cx="11475720" cy="18288"/>
          </a:xfrm>
          <a:prstGeom prst="rect">
            <a:avLst/>
          </a:prstGeom>
          <a:solidFill>
            <a:srgbClr val="D8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502920"/>
            <a:ext cx="1371600" cy="91440"/>
          </a:xfrm>
          <a:prstGeom prst="rect">
            <a:avLst/>
          </a:prstGeom>
          <a:solidFill>
            <a:srgbClr val="1C7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749808"/>
            <a:ext cx="7863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82642"/>
                </a:solidFill>
                <a:latin typeface="Aptos"/>
              </a:rPr>
              <a:t>The Problem In One Intuition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70432"/>
            <a:ext cx="8595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6C7A"/>
                </a:solidFill>
                <a:latin typeface="Aptos"/>
              </a:rPr>
              <a:t>GenAI and the human forum are connected. What helps now may hurt the system later.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36192"/>
            <a:ext cx="1005840" cy="219456"/>
          </a:xfrm>
          <a:prstGeom prst="roundRect">
            <a:avLst>
              <a:gd name="adj" fmla="val 22000"/>
            </a:avLst>
          </a:prstGeom>
          <a:solidFill>
            <a:srgbClr val="1C7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581912"/>
            <a:ext cx="749808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Problem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901952"/>
            <a:ext cx="3794760" cy="3794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14884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C7E7C"/>
                </a:solidFill>
                <a:latin typeface="Aptos"/>
              </a:rPr>
              <a:t>Think of a classroom forum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514600"/>
            <a:ext cx="3154680" cy="2286000"/>
          </a:xfrm>
          <a:prstGeom prst="rect">
            <a:avLst/>
          </a:prstGeom>
          <a:noFill/>
        </p:spPr>
        <p:txBody>
          <a:bodyPr wrap="square" lIns="27432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182642"/>
                </a:solidFill>
                <a:latin typeface="Aptos"/>
              </a:defRPr>
            </a:pPr>
            <a:r>
              <a:t>If AI answers every doubt, fewer useful student discussions get created.</a:t>
            </a:r>
          </a:p>
          <a:p>
            <a:pPr>
              <a:spcAft>
                <a:spcPts val="400"/>
              </a:spcAft>
              <a:defRPr sz="1800">
                <a:solidFill>
                  <a:srgbClr val="182642"/>
                </a:solidFill>
                <a:latin typeface="Aptos"/>
              </a:defRPr>
            </a:pPr>
            <a:r>
              <a:t>If AI sends everyone to the forum, the forum gets crowded and less useful.</a:t>
            </a:r>
          </a:p>
          <a:p>
            <a:pPr>
              <a:spcAft>
                <a:spcPts val="400"/>
              </a:spcAft>
              <a:defRPr sz="1800">
                <a:solidFill>
                  <a:srgbClr val="182642"/>
                </a:solidFill>
                <a:latin typeface="Aptos"/>
              </a:defRPr>
            </a:pPr>
            <a:r>
              <a:t>So the policy question is: which queries should AI answer, and which should reach humans?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1901952"/>
            <a:ext cx="6995160" cy="3794760"/>
          </a:xfrm>
          <a:prstGeom prst="roundRect">
            <a:avLst>
              <a:gd name="adj" fmla="val 8000"/>
            </a:avLst>
          </a:prstGeom>
          <a:solidFill>
            <a:srgbClr val="EFF2F7"/>
          </a:solidFill>
          <a:ln w="12700">
            <a:solidFill>
              <a:srgbClr val="D8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983480" y="2743200"/>
            <a:ext cx="1143000" cy="6583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1C7E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629400" y="2743200"/>
            <a:ext cx="1143000" cy="6583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C7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75320" y="2743200"/>
            <a:ext cx="1234440" cy="6583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3A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012680" y="2743200"/>
            <a:ext cx="1051560" cy="6583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B8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94376" y="2962656"/>
            <a:ext cx="457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82642"/>
                </a:solidFill>
                <a:latin typeface="Aptos"/>
              </a:rPr>
              <a:t>Users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31152" y="2962656"/>
            <a:ext cx="5029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82642"/>
                </a:solidFill>
                <a:latin typeface="Aptos"/>
              </a:rPr>
              <a:t>GenAI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2962656"/>
            <a:ext cx="5486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82642"/>
                </a:solidFill>
                <a:latin typeface="Aptos"/>
              </a:rPr>
              <a:t>Forum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05288" y="2962656"/>
            <a:ext cx="365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82642"/>
                </a:solidFill>
                <a:latin typeface="Aptos"/>
              </a:rPr>
              <a:t>C_t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4768" y="2880360"/>
            <a:ext cx="219456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7E7C"/>
                </a:solidFill>
                <a:latin typeface="Aptos"/>
              </a:rPr>
              <a:t>-&gt;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90688" y="2880360"/>
            <a:ext cx="219456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C7C30"/>
                </a:solidFill>
                <a:latin typeface="Aptos"/>
              </a:rPr>
              <a:t>-&gt;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2880360"/>
            <a:ext cx="219456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A7A57"/>
                </a:solidFill>
                <a:latin typeface="Aptos"/>
              </a:rPr>
              <a:t>-&gt;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397763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82642"/>
                </a:solidFill>
                <a:latin typeface="Aptos"/>
              </a:rPr>
              <a:t>Forum capacity is the missing idea: if load exceeds capacity, future human help becomes weaker.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00800"/>
            <a:ext cx="9144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6C7A"/>
                </a:solidFill>
                <a:latin typeface="Aptos"/>
              </a:rPr>
              <a:t>Refs: Taitler et al. (2025); Hardin (1968); Ostrom (1990)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411712" y="6291072"/>
            <a:ext cx="310896" cy="237744"/>
          </a:xfrm>
          <a:prstGeom prst="roundRect">
            <a:avLst>
              <a:gd name="adj" fmla="val 18000"/>
            </a:avLst>
          </a:prstGeom>
          <a:solidFill>
            <a:srgbClr val="EFF2F7"/>
          </a:solidFill>
          <a:ln w="12700">
            <a:solidFill>
              <a:srgbClr val="D8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503152" y="6345936"/>
            <a:ext cx="109728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82642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20040"/>
            <a:ext cx="11475720" cy="109728"/>
          </a:xfrm>
          <a:prstGeom prst="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6355080"/>
            <a:ext cx="11475720" cy="18288"/>
          </a:xfrm>
          <a:prstGeom prst="rect">
            <a:avLst/>
          </a:prstGeom>
          <a:solidFill>
            <a:srgbClr val="D8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502920"/>
            <a:ext cx="1371600" cy="91440"/>
          </a:xfrm>
          <a:prstGeom prst="rect">
            <a:avLst/>
          </a:prstGeom>
          <a:solidFill>
            <a:srgbClr val="DC7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749808"/>
            <a:ext cx="7863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82642"/>
                </a:solidFill>
                <a:latin typeface="Aptos"/>
              </a:rPr>
              <a:t>Why Should We Care?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70432"/>
            <a:ext cx="8595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6C7A"/>
                </a:solidFill>
                <a:latin typeface="Aptos"/>
              </a:rPr>
              <a:t>The same tradeoff appears whenever human discussion creates reusable knowledge.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36192"/>
            <a:ext cx="1005840" cy="219456"/>
          </a:xfrm>
          <a:prstGeom prst="roundRect">
            <a:avLst>
              <a:gd name="adj" fmla="val 22000"/>
            </a:avLst>
          </a:prstGeom>
          <a:solidFill>
            <a:srgbClr val="DC7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581912"/>
            <a:ext cx="749808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Why care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993392"/>
            <a:ext cx="3154680" cy="3611880"/>
          </a:xfrm>
          <a:prstGeom prst="roundRect">
            <a:avLst>
              <a:gd name="adj" fmla="val 8000"/>
            </a:avLst>
          </a:prstGeom>
          <a:solidFill>
            <a:srgbClr val="EFF2F7"/>
          </a:solidFill>
          <a:ln w="12700">
            <a:solidFill>
              <a:srgbClr val="D8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24028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DC7C30"/>
                </a:solidFill>
                <a:latin typeface="Aptos"/>
              </a:rPr>
              <a:t>Course forums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743200"/>
            <a:ext cx="2697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82642"/>
                </a:solidFill>
                <a:latin typeface="Aptos"/>
              </a:rPr>
              <a:t>Good student discussions help future batches. Too much AI can silently shrink that pool.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1993392"/>
            <a:ext cx="315468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61688" y="224028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C7E7C"/>
                </a:solidFill>
                <a:latin typeface="Aptos"/>
              </a:rPr>
              <a:t>Developer forums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1688" y="2743200"/>
            <a:ext cx="2697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82642"/>
                </a:solidFill>
                <a:latin typeface="Aptos"/>
              </a:rPr>
              <a:t>Redirected traffic can overload expert communities like Stack Overflow-style forums.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80960" y="1993392"/>
            <a:ext cx="3154680" cy="3611880"/>
          </a:xfrm>
          <a:prstGeom prst="roundRect">
            <a:avLst>
              <a:gd name="adj" fmla="val 8000"/>
            </a:avLst>
          </a:prstGeom>
          <a:solidFill>
            <a:srgbClr val="EFF2F7"/>
          </a:solidFill>
          <a:ln w="12700">
            <a:solidFill>
              <a:srgbClr val="D8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82128" y="224028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3A7A57"/>
                </a:solidFill>
                <a:latin typeface="Aptos"/>
              </a:rPr>
              <a:t>Product communities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82128" y="2743200"/>
            <a:ext cx="2697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82642"/>
                </a:solidFill>
                <a:latin typeface="Aptos"/>
              </a:rPr>
              <a:t>Automation can fix easy cases now while weakening the human knowledge pipeline later.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17320" y="5779008"/>
            <a:ext cx="9326880" cy="365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37360" y="5879592"/>
            <a:ext cx="86868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82642"/>
                </a:solidFill>
                <a:latin typeface="Aptos"/>
              </a:rPr>
              <a:t>Professor-friendly intuition: AI policy is also ecosystem policy.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00800"/>
            <a:ext cx="9144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6C7A"/>
                </a:solidFill>
                <a:latin typeface="Aptos"/>
              </a:rPr>
              <a:t>Refs: Horvitz (1999); Amershi et al. (2014); Bansal et al. (2021)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411712" y="6291072"/>
            <a:ext cx="310896" cy="237744"/>
          </a:xfrm>
          <a:prstGeom prst="roundRect">
            <a:avLst>
              <a:gd name="adj" fmla="val 18000"/>
            </a:avLst>
          </a:prstGeom>
          <a:solidFill>
            <a:srgbClr val="EFF2F7"/>
          </a:solidFill>
          <a:ln w="12700">
            <a:solidFill>
              <a:srgbClr val="D8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503152" y="6345936"/>
            <a:ext cx="109728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82642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20040"/>
            <a:ext cx="11475720" cy="109728"/>
          </a:xfrm>
          <a:prstGeom prst="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6355080"/>
            <a:ext cx="11475720" cy="18288"/>
          </a:xfrm>
          <a:prstGeom prst="rect">
            <a:avLst/>
          </a:prstGeom>
          <a:solidFill>
            <a:srgbClr val="D8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502920"/>
            <a:ext cx="1371600" cy="91440"/>
          </a:xfrm>
          <a:prstGeom prst="rect">
            <a:avLst/>
          </a:prstGeom>
          <a:solidFill>
            <a:srgbClr val="1C7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749808"/>
            <a:ext cx="7863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82642"/>
                </a:solidFill>
                <a:latin typeface="Aptos"/>
              </a:rPr>
              <a:t>Literature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70432"/>
            <a:ext cx="8595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6C7A"/>
                </a:solidFill>
                <a:latin typeface="Aptos"/>
              </a:rPr>
              <a:t>Three threads lead to our project.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36192"/>
            <a:ext cx="1005840" cy="219456"/>
          </a:xfrm>
          <a:prstGeom prst="roundRect">
            <a:avLst>
              <a:gd name="adj" fmla="val 22000"/>
            </a:avLst>
          </a:prstGeom>
          <a:solidFill>
            <a:srgbClr val="1C7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581912"/>
            <a:ext cx="749808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Literature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993392"/>
            <a:ext cx="324612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240280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C7E7C"/>
                </a:solidFill>
                <a:latin typeface="Aptos"/>
              </a:rPr>
              <a:t>Selective response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7432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82642"/>
                </a:solidFill>
                <a:latin typeface="Aptos"/>
              </a:rPr>
              <a:t>Chow (1970)
El-Yaniv (2010)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4114800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46C7A"/>
                </a:solidFill>
                <a:latin typeface="Aptos"/>
              </a:rPr>
              <a:t>When should the model abstain?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993392"/>
            <a:ext cx="324612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8848" y="2240280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DC7C30"/>
                </a:solidFill>
                <a:latin typeface="Aptos"/>
              </a:rPr>
              <a:t>Learning to defer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8" y="27432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82642"/>
                </a:solidFill>
                <a:latin typeface="Aptos"/>
              </a:rPr>
              <a:t>Madras et al. (2018)
Mozannar and Sontag (2020)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4114800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46C7A"/>
                </a:solidFill>
                <a:latin typeface="Aptos"/>
              </a:rPr>
              <a:t>When should humans take over?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79" y="1993392"/>
            <a:ext cx="324612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56448" y="2240280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3A7A57"/>
                </a:solidFill>
                <a:latin typeface="Aptos"/>
              </a:rPr>
              <a:t>Congestion / commons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56448" y="27432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82642"/>
                </a:solidFill>
                <a:latin typeface="Aptos"/>
              </a:rPr>
              <a:t>Hardin (1968)
Ostrom (1990)
Kleinrock (1975)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56448" y="4114800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46C7A"/>
                </a:solidFill>
                <a:latin typeface="Aptos"/>
              </a:rPr>
              <a:t>What happens when shared systems get overloaded?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5715000"/>
            <a:ext cx="9966960" cy="411480"/>
          </a:xfrm>
          <a:prstGeom prst="roundRect">
            <a:avLst>
              <a:gd name="adj" fmla="val 8000"/>
            </a:avLst>
          </a:prstGeom>
          <a:solidFill>
            <a:srgbClr val="EFF2F7"/>
          </a:solidFill>
          <a:ln w="12700">
            <a:solidFill>
              <a:srgbClr val="D8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25880" y="5824728"/>
            <a:ext cx="9418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82642"/>
                </a:solidFill>
                <a:latin typeface="Aptos"/>
              </a:rPr>
              <a:t>Gap: prior selective-response work does not treat the human forum as a congestible resource.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00800"/>
            <a:ext cx="9144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6C7A"/>
                </a:solidFill>
                <a:latin typeface="Aptos"/>
              </a:rPr>
              <a:t>Refs: Chow (1970); El-Yaniv (2010); Madras et al. (2018); Mozannar and Sontag (2020); Hardin (1968); Ostrom (1990)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411712" y="6291072"/>
            <a:ext cx="310896" cy="237744"/>
          </a:xfrm>
          <a:prstGeom prst="roundRect">
            <a:avLst>
              <a:gd name="adj" fmla="val 18000"/>
            </a:avLst>
          </a:prstGeom>
          <a:solidFill>
            <a:srgbClr val="EFF2F7"/>
          </a:solidFill>
          <a:ln w="12700">
            <a:solidFill>
              <a:srgbClr val="D8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503152" y="6345936"/>
            <a:ext cx="109728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82642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20040"/>
            <a:ext cx="11475720" cy="109728"/>
          </a:xfrm>
          <a:prstGeom prst="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6355080"/>
            <a:ext cx="11475720" cy="18288"/>
          </a:xfrm>
          <a:prstGeom prst="rect">
            <a:avLst/>
          </a:prstGeom>
          <a:solidFill>
            <a:srgbClr val="D8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502920"/>
            <a:ext cx="1371600" cy="91440"/>
          </a:xfrm>
          <a:prstGeom prst="rect">
            <a:avLst/>
          </a:prstGeom>
          <a:solidFill>
            <a:srgbClr val="DC7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749808"/>
            <a:ext cx="7863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82642"/>
                </a:solidFill>
                <a:latin typeface="Aptos"/>
              </a:rPr>
              <a:t>Base Paper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70432"/>
            <a:ext cx="8595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6C7A"/>
                </a:solidFill>
                <a:latin typeface="Aptos"/>
              </a:rPr>
              <a:t>Important: this idea is from the prior paper, not from 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36192"/>
            <a:ext cx="1005840" cy="219456"/>
          </a:xfrm>
          <a:prstGeom prst="roundRect">
            <a:avLst>
              <a:gd name="adj" fmla="val 22000"/>
            </a:avLst>
          </a:prstGeom>
          <a:solidFill>
            <a:srgbClr val="DC7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581912"/>
            <a:ext cx="749808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Prior 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938528"/>
            <a:ext cx="3657600" cy="3794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176272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DC7C30"/>
                </a:solidFill>
                <a:latin typeface="Aptos"/>
              </a:rPr>
              <a:t>What the base paper says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542032"/>
            <a:ext cx="3017520" cy="2377440"/>
          </a:xfrm>
          <a:prstGeom prst="rect">
            <a:avLst/>
          </a:prstGeom>
          <a:noFill/>
        </p:spPr>
        <p:txBody>
          <a:bodyPr wrap="square" lIns="27432">
            <a:spAutoFit/>
          </a:bodyPr>
          <a:lstStyle/>
          <a:p>
            <a:pPr>
              <a:spcAft>
                <a:spcPts val="400"/>
              </a:spcAft>
              <a:defRPr sz="1900">
                <a:solidFill>
                  <a:srgbClr val="182642"/>
                </a:solidFill>
                <a:latin typeface="Aptos"/>
              </a:defRPr>
            </a:pPr>
            <a:r>
              <a:t>AI should not always answer.</a:t>
            </a:r>
          </a:p>
          <a:p>
            <a:pPr>
              <a:spcAft>
                <a:spcPts val="400"/>
              </a:spcAft>
              <a:defRPr sz="1900">
                <a:solidFill>
                  <a:srgbClr val="182642"/>
                </a:solidFill>
                <a:latin typeface="Aptos"/>
              </a:defRPr>
            </a:pPr>
            <a:r>
              <a:t>Deferring some queries can improve long-run learning.</a:t>
            </a:r>
          </a:p>
          <a:p>
            <a:pPr>
              <a:spcAft>
                <a:spcPts val="400"/>
              </a:spcAft>
              <a:defRPr sz="1900">
                <a:solidFill>
                  <a:srgbClr val="182642"/>
                </a:solidFill>
                <a:latin typeface="Aptos"/>
              </a:defRPr>
            </a:pPr>
            <a:r>
              <a:t>Reason: human discussions create future signal.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1938528"/>
            <a:ext cx="2606040" cy="3794760"/>
          </a:xfrm>
          <a:prstGeom prst="roundRect">
            <a:avLst>
              <a:gd name="adj" fmla="val 8000"/>
            </a:avLst>
          </a:prstGeom>
          <a:solidFill>
            <a:srgbClr val="EFF2F7"/>
          </a:solidFill>
          <a:ln w="12700">
            <a:solidFill>
              <a:srgbClr val="D8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2176272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DC7C30"/>
                </a:solidFill>
                <a:latin typeface="Aptos"/>
              </a:rPr>
              <a:t>Intuition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74920" y="2788920"/>
            <a:ext cx="1600200" cy="6400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C7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74920" y="4160520"/>
            <a:ext cx="1600200" cy="6400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3A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49824" y="2999232"/>
            <a:ext cx="8686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82642"/>
                </a:solidFill>
                <a:latin typeface="Aptos"/>
              </a:rPr>
              <a:t>Always answer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58384" y="4370832"/>
            <a:ext cx="10515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82642"/>
                </a:solidFill>
                <a:latin typeface="Aptos"/>
              </a:rPr>
              <a:t>Selective response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51023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82642"/>
                </a:solidFill>
                <a:latin typeface="Aptos"/>
              </a:rPr>
              <a:t>Sometimes less answering is better in the long run.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52360" y="1938528"/>
            <a:ext cx="4297680" cy="3794760"/>
          </a:xfrm>
          <a:prstGeom prst="roundRect">
            <a:avLst>
              <a:gd name="adj" fmla="val 8000"/>
            </a:avLst>
          </a:prstGeom>
          <a:solidFill>
            <a:srgbClr val="EFF2F7"/>
          </a:solidFill>
          <a:ln w="12700">
            <a:solidFill>
              <a:srgbClr val="D8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99248" y="2176272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B84040"/>
                </a:solidFill>
                <a:latin typeface="Aptos"/>
              </a:rPr>
              <a:t>Why that is incomplete for 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62672" y="2542032"/>
            <a:ext cx="3657600" cy="2377440"/>
          </a:xfrm>
          <a:prstGeom prst="rect">
            <a:avLst/>
          </a:prstGeom>
          <a:noFill/>
        </p:spPr>
        <p:txBody>
          <a:bodyPr wrap="square" lIns="27432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182642"/>
                </a:solidFill>
                <a:latin typeface="Aptos"/>
              </a:defRPr>
            </a:pPr>
            <a:r>
              <a:t>Forum is not modeled as capacity-limited.</a:t>
            </a:r>
          </a:p>
          <a:p>
            <a:pPr>
              <a:spcAft>
                <a:spcPts val="400"/>
              </a:spcAft>
              <a:defRPr sz="1800">
                <a:solidFill>
                  <a:srgbClr val="182642"/>
                </a:solidFill>
                <a:latin typeface="Aptos"/>
              </a:defRPr>
            </a:pPr>
            <a:r>
              <a:t>No collapse dynamics under overload.</a:t>
            </a:r>
          </a:p>
          <a:p>
            <a:pPr>
              <a:spcAft>
                <a:spcPts val="400"/>
              </a:spcAft>
              <a:defRPr sz="1800">
                <a:solidFill>
                  <a:srgbClr val="182642"/>
                </a:solidFill>
                <a:latin typeface="Aptos"/>
              </a:defRPr>
            </a:pPr>
            <a:r>
              <a:t>No clean test of whether gains come from composition or just volume.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00800"/>
            <a:ext cx="9144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6C7A"/>
                </a:solidFill>
                <a:latin typeface="Aptos"/>
              </a:rPr>
              <a:t>Refs: Taitler et al. (2025)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11712" y="6291072"/>
            <a:ext cx="310896" cy="237744"/>
          </a:xfrm>
          <a:prstGeom prst="roundRect">
            <a:avLst>
              <a:gd name="adj" fmla="val 18000"/>
            </a:avLst>
          </a:prstGeom>
          <a:solidFill>
            <a:srgbClr val="EFF2F7"/>
          </a:solidFill>
          <a:ln w="12700">
            <a:solidFill>
              <a:srgbClr val="D8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503152" y="6345936"/>
            <a:ext cx="109728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82642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20040"/>
            <a:ext cx="11475720" cy="109728"/>
          </a:xfrm>
          <a:prstGeom prst="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6355080"/>
            <a:ext cx="11475720" cy="18288"/>
          </a:xfrm>
          <a:prstGeom prst="rect">
            <a:avLst/>
          </a:prstGeom>
          <a:solidFill>
            <a:srgbClr val="D8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502920"/>
            <a:ext cx="1371600" cy="91440"/>
          </a:xfrm>
          <a:prstGeom prst="rect">
            <a:avLst/>
          </a:prstGeom>
          <a:solidFill>
            <a:srgbClr val="1C7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749808"/>
            <a:ext cx="7863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82642"/>
                </a:solidFill>
                <a:latin typeface="Aptos"/>
              </a:rPr>
              <a:t>Our Original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70432"/>
            <a:ext cx="8595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6C7A"/>
                </a:solidFill>
                <a:latin typeface="Aptos"/>
              </a:rPr>
              <a:t>We extend the base idea with congestion, capacity, and stronger validation checks.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36192"/>
            <a:ext cx="1005840" cy="219456"/>
          </a:xfrm>
          <a:prstGeom prst="roundRect">
            <a:avLst>
              <a:gd name="adj" fmla="val 22000"/>
            </a:avLst>
          </a:prstGeom>
          <a:solidFill>
            <a:srgbClr val="1C7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581912"/>
            <a:ext cx="749808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Our 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938528"/>
            <a:ext cx="5486400" cy="3794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17627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C7E7C"/>
                </a:solidFill>
                <a:latin typeface="Aptos"/>
              </a:rPr>
              <a:t>Method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514600"/>
            <a:ext cx="2743200" cy="2194560"/>
          </a:xfrm>
          <a:prstGeom prst="rect">
            <a:avLst/>
          </a:prstGeom>
          <a:noFill/>
        </p:spPr>
        <p:txBody>
          <a:bodyPr wrap="square" lIns="27432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182642"/>
                </a:solidFill>
                <a:latin typeface="Aptos"/>
              </a:defRPr>
            </a:pPr>
            <a:r>
              <a:t>Deterministic simulator, horizon T = 40.</a:t>
            </a:r>
          </a:p>
          <a:p>
            <a:pPr>
              <a:spcAft>
                <a:spcPts val="400"/>
              </a:spcAft>
              <a:defRPr sz="1800">
                <a:solidFill>
                  <a:srgbClr val="182642"/>
                </a:solidFill>
                <a:latin typeface="Aptos"/>
              </a:defRPr>
            </a:pPr>
            <a:r>
              <a:t>Tracks knowledge stock and forum capacity over time.</a:t>
            </a:r>
          </a:p>
          <a:p>
            <a:pPr>
              <a:spcAft>
                <a:spcPts val="400"/>
              </a:spcAft>
              <a:defRPr sz="1800">
                <a:solidFill>
                  <a:srgbClr val="182642"/>
                </a:solidFill>
                <a:latin typeface="Aptos"/>
              </a:defRPr>
            </a:pPr>
            <a:r>
              <a:t>Forum throughput falls under overload.</a:t>
            </a:r>
          </a:p>
          <a:p>
            <a:pPr>
              <a:spcAft>
                <a:spcPts val="400"/>
              </a:spcAft>
              <a:defRPr sz="1800">
                <a:solidFill>
                  <a:srgbClr val="182642"/>
                </a:solidFill>
                <a:latin typeface="Aptos"/>
              </a:defRPr>
            </a:pPr>
            <a:r>
              <a:t>Capacity can shrink if overload persists.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49039" y="2743200"/>
            <a:ext cx="1005840" cy="621792"/>
          </a:xfrm>
          <a:prstGeom prst="roundRect">
            <a:avLst>
              <a:gd name="adj" fmla="val 16000"/>
            </a:avLst>
          </a:prstGeom>
          <a:solidFill>
            <a:srgbClr val="EFF2F7"/>
          </a:solidFill>
          <a:ln w="12700">
            <a:solidFill>
              <a:srgbClr val="1C7E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74920" y="2743200"/>
            <a:ext cx="1005840" cy="621792"/>
          </a:xfrm>
          <a:prstGeom prst="roundRect">
            <a:avLst>
              <a:gd name="adj" fmla="val 16000"/>
            </a:avLst>
          </a:prstGeom>
          <a:solidFill>
            <a:srgbClr val="EFF2F7"/>
          </a:solidFill>
          <a:ln w="12700">
            <a:solidFill>
              <a:srgbClr val="DC7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0" y="2743200"/>
            <a:ext cx="1097280" cy="621792"/>
          </a:xfrm>
          <a:prstGeom prst="roundRect">
            <a:avLst>
              <a:gd name="adj" fmla="val 16000"/>
            </a:avLst>
          </a:prstGeom>
          <a:solidFill>
            <a:srgbClr val="EFF2F7"/>
          </a:solidFill>
          <a:ln w="12700">
            <a:solidFill>
              <a:srgbClr val="3A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05072" y="2944368"/>
            <a:ext cx="5029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82642"/>
                </a:solidFill>
                <a:latin typeface="Aptos"/>
              </a:rPr>
              <a:t>Users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0952" y="2944368"/>
            <a:ext cx="5029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82642"/>
                </a:solidFill>
                <a:latin typeface="Aptos"/>
              </a:rPr>
              <a:t>GenAI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93408" y="2944368"/>
            <a:ext cx="5029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82642"/>
                </a:solidFill>
                <a:latin typeface="Aptos"/>
              </a:rPr>
              <a:t>Forum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82312" y="2871216"/>
            <a:ext cx="201168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C7E7C"/>
                </a:solidFill>
                <a:latin typeface="Aptos"/>
              </a:rPr>
              <a:t>-&gt;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17336" y="2871216"/>
            <a:ext cx="201168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DC7C30"/>
                </a:solidFill>
                <a:latin typeface="Aptos"/>
              </a:rPr>
              <a:t>-&gt;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41605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82642"/>
                </a:solidFill>
                <a:latin typeface="Aptos"/>
              </a:rPr>
              <a:t>The human side is now a limited shared system.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1938528"/>
            <a:ext cx="5394960" cy="3794760"/>
          </a:xfrm>
          <a:prstGeom prst="roundRect">
            <a:avLst>
              <a:gd name="adj" fmla="val 8000"/>
            </a:avLst>
          </a:prstGeom>
          <a:solidFill>
            <a:srgbClr val="EFF2F7"/>
          </a:solidFill>
          <a:ln w="12700">
            <a:solidFill>
              <a:srgbClr val="D8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01968" y="217627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C7E7C"/>
                </a:solidFill>
                <a:latin typeface="Aptos"/>
              </a:rPr>
              <a:t>What we additionally test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2514600"/>
            <a:ext cx="4572000" cy="2286000"/>
          </a:xfrm>
          <a:prstGeom prst="rect">
            <a:avLst/>
          </a:prstGeom>
          <a:noFill/>
        </p:spPr>
        <p:txBody>
          <a:bodyPr wrap="square" lIns="27432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182642"/>
                </a:solidFill>
                <a:latin typeface="Aptos"/>
              </a:defRPr>
            </a:pPr>
            <a:r>
              <a:t>Matched answered-share control</a:t>
            </a:r>
          </a:p>
          <a:p>
            <a:pPr>
              <a:spcAft>
                <a:spcPts val="400"/>
              </a:spcAft>
              <a:defRPr sz="1800">
                <a:solidFill>
                  <a:srgbClr val="182642"/>
                </a:solidFill>
                <a:latin typeface="Aptos"/>
              </a:defRPr>
            </a:pPr>
            <a:r>
              <a:t>rho = 0 ablation</a:t>
            </a:r>
          </a:p>
          <a:p>
            <a:pPr>
              <a:spcAft>
                <a:spcPts val="400"/>
              </a:spcAft>
              <a:defRPr sz="1800">
                <a:solidFill>
                  <a:srgbClr val="182642"/>
                </a:solidFill>
                <a:latin typeface="Aptos"/>
              </a:defRPr>
            </a:pPr>
            <a:r>
              <a:t>Collapse boundary in (C1, xi) space</a:t>
            </a:r>
          </a:p>
          <a:p>
            <a:pPr>
              <a:spcAft>
                <a:spcPts val="400"/>
              </a:spcAft>
              <a:defRPr sz="1800">
                <a:solidFill>
                  <a:srgbClr val="182642"/>
                </a:solidFill>
                <a:latin typeface="Aptos"/>
              </a:defRPr>
            </a:pPr>
            <a:r>
              <a:t>Extended baselines: capacity-aware and novelty+capacity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00800"/>
            <a:ext cx="9144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6C7A"/>
                </a:solidFill>
                <a:latin typeface="Aptos"/>
              </a:rPr>
              <a:t>Refs: project simulator outputs in sim/results and sim/figs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11712" y="6291072"/>
            <a:ext cx="310896" cy="237744"/>
          </a:xfrm>
          <a:prstGeom prst="roundRect">
            <a:avLst>
              <a:gd name="adj" fmla="val 18000"/>
            </a:avLst>
          </a:prstGeom>
          <a:solidFill>
            <a:srgbClr val="EFF2F7"/>
          </a:solidFill>
          <a:ln w="12700">
            <a:solidFill>
              <a:srgbClr val="D8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503152" y="6345936"/>
            <a:ext cx="109728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82642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20040"/>
            <a:ext cx="11475720" cy="109728"/>
          </a:xfrm>
          <a:prstGeom prst="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6355080"/>
            <a:ext cx="11475720" cy="18288"/>
          </a:xfrm>
          <a:prstGeom prst="rect">
            <a:avLst/>
          </a:prstGeom>
          <a:solidFill>
            <a:srgbClr val="D8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502920"/>
            <a:ext cx="1371600" cy="91440"/>
          </a:xfrm>
          <a:prstGeom prst="rect">
            <a:avLst/>
          </a:prstGeom>
          <a:solidFill>
            <a:srgbClr val="DC7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749808"/>
            <a:ext cx="7863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82642"/>
                </a:solidFill>
                <a:latin typeface="Aptos"/>
              </a:rPr>
              <a:t>Main 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70432"/>
            <a:ext cx="8595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6C7A"/>
                </a:solidFill>
                <a:latin typeface="Aptos"/>
              </a:rPr>
              <a:t>Novelty-aware routing improves long-run learning across regimes.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36192"/>
            <a:ext cx="1005840" cy="219456"/>
          </a:xfrm>
          <a:prstGeom prst="roundRect">
            <a:avLst>
              <a:gd name="adj" fmla="val 22000"/>
            </a:avLst>
          </a:prstGeom>
          <a:solidFill>
            <a:srgbClr val="DC7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581912"/>
            <a:ext cx="749808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Results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938528"/>
            <a:ext cx="3108960" cy="3794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17627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DC7C30"/>
                </a:solidFill>
                <a:latin typeface="Aptos"/>
              </a:rPr>
              <a:t>Say these numbers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542032"/>
            <a:ext cx="2560320" cy="2286000"/>
          </a:xfrm>
          <a:prstGeom prst="rect">
            <a:avLst/>
          </a:prstGeom>
          <a:noFill/>
        </p:spPr>
        <p:txBody>
          <a:bodyPr wrap="square" lIns="27432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182642"/>
                </a:solidFill>
                <a:latin typeface="Aptos"/>
              </a:defRPr>
            </a:pPr>
            <a:r>
              <a:t>Stable: 26.15 -&gt; 36.29</a:t>
            </a:r>
          </a:p>
          <a:p>
            <a:pPr>
              <a:spcAft>
                <a:spcPts val="400"/>
              </a:spcAft>
              <a:defRPr sz="1800">
                <a:solidFill>
                  <a:srgbClr val="182642"/>
                </a:solidFill>
                <a:latin typeface="Aptos"/>
              </a:defRPr>
            </a:pPr>
            <a:r>
              <a:t>Mid: 19.60 -&gt; 31.56</a:t>
            </a:r>
          </a:p>
          <a:p>
            <a:pPr>
              <a:spcAft>
                <a:spcPts val="400"/>
              </a:spcAft>
              <a:defRPr sz="1800">
                <a:solidFill>
                  <a:srgbClr val="182642"/>
                </a:solidFill>
                <a:latin typeface="Aptos"/>
              </a:defRPr>
            </a:pPr>
            <a:r>
              <a:t>Collapse: 6.68 -&gt; 9.54</a:t>
            </a:r>
          </a:p>
          <a:p>
            <a:pPr>
              <a:spcAft>
                <a:spcPts val="400"/>
              </a:spcAft>
              <a:defRPr sz="1800">
                <a:solidFill>
                  <a:srgbClr val="182642"/>
                </a:solidFill>
                <a:latin typeface="Aptos"/>
              </a:defRPr>
            </a:pPr>
            <a:r>
              <a:t>Mid overload also drops: 40 -&gt; 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8920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46C7A"/>
                </a:solidFill>
                <a:latin typeface="Aptos"/>
              </a:rPr>
              <a:t>Easy intuition: send better traffic to the forum.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77639" y="1938528"/>
            <a:ext cx="3794760" cy="3794760"/>
          </a:xfrm>
          <a:prstGeom prst="roundRect">
            <a:avLst>
              <a:gd name="adj" fmla="val 8000"/>
            </a:avLst>
          </a:prstGeom>
          <a:solidFill>
            <a:srgbClr val="EFF2F7"/>
          </a:solidFill>
          <a:ln w="12700">
            <a:solidFill>
              <a:srgbClr val="D8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eed_robustness_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2232" y="2103120"/>
            <a:ext cx="3474720" cy="297180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8046720" y="1938528"/>
            <a:ext cx="3703320" cy="3794760"/>
          </a:xfrm>
          <a:prstGeom prst="roundRect">
            <a:avLst>
              <a:gd name="adj" fmla="val 8000"/>
            </a:avLst>
          </a:prstGeom>
          <a:solidFill>
            <a:srgbClr val="EFF2F7"/>
          </a:solidFill>
          <a:ln w="12700">
            <a:solidFill>
              <a:srgbClr val="D8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eed_robustness_over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2103120"/>
            <a:ext cx="3383280" cy="2971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7200" y="6400800"/>
            <a:ext cx="9144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6C7A"/>
                </a:solidFill>
                <a:latin typeface="Aptos"/>
              </a:rPr>
              <a:t>Refs: seed_robustness.csv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411712" y="6291072"/>
            <a:ext cx="310896" cy="237744"/>
          </a:xfrm>
          <a:prstGeom prst="roundRect">
            <a:avLst>
              <a:gd name="adj" fmla="val 18000"/>
            </a:avLst>
          </a:prstGeom>
          <a:solidFill>
            <a:srgbClr val="EFF2F7"/>
          </a:solidFill>
          <a:ln w="12700">
            <a:solidFill>
              <a:srgbClr val="D8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503152" y="6345936"/>
            <a:ext cx="109728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82642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20040"/>
            <a:ext cx="11475720" cy="109728"/>
          </a:xfrm>
          <a:prstGeom prst="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6355080"/>
            <a:ext cx="11475720" cy="18288"/>
          </a:xfrm>
          <a:prstGeom prst="rect">
            <a:avLst/>
          </a:prstGeom>
          <a:solidFill>
            <a:srgbClr val="D8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502920"/>
            <a:ext cx="1371600" cy="91440"/>
          </a:xfrm>
          <a:prstGeom prst="rect">
            <a:avLst/>
          </a:prstGeom>
          <a:solidFill>
            <a:srgbClr val="B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749808"/>
            <a:ext cx="7863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82642"/>
                </a:solidFill>
                <a:latin typeface="Aptos"/>
              </a:rPr>
              <a:t>Why We Believe The 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70432"/>
            <a:ext cx="8595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6C7A"/>
                </a:solidFill>
                <a:latin typeface="Aptos"/>
              </a:rPr>
              <a:t>Two checks show the gain comes from composition, not just more answering.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36192"/>
            <a:ext cx="1005840" cy="219456"/>
          </a:xfrm>
          <a:prstGeom prst="roundRect">
            <a:avLst>
              <a:gd name="adj" fmla="val 22000"/>
            </a:avLst>
          </a:prstGeom>
          <a:solidFill>
            <a:srgbClr val="B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581912"/>
            <a:ext cx="749808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Validation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938528"/>
            <a:ext cx="2834640" cy="3794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17627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B84040"/>
                </a:solidFill>
                <a:latin typeface="Aptos"/>
              </a:rPr>
              <a:t>Check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82642"/>
                </a:solidFill>
                <a:latin typeface="Aptos"/>
              </a:rPr>
              <a:t>Match the actual answered share.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401568"/>
            <a:ext cx="2148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82642"/>
                </a:solidFill>
                <a:latin typeface="Aptos"/>
              </a:rPr>
              <a:t>Even then, targeted still wins:
31.35 vs 20.58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1938528"/>
            <a:ext cx="3703320" cy="3794760"/>
          </a:xfrm>
          <a:prstGeom prst="roundRect">
            <a:avLst>
              <a:gd name="adj" fmla="val 8000"/>
            </a:avLst>
          </a:prstGeom>
          <a:solidFill>
            <a:srgbClr val="EFF2F7"/>
          </a:solidFill>
          <a:ln w="12700">
            <a:solidFill>
              <a:srgbClr val="D8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matched_answered_compare_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2191" y="2103120"/>
            <a:ext cx="3383280" cy="297180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635240" y="1938528"/>
            <a:ext cx="4114800" cy="3794760"/>
          </a:xfrm>
          <a:prstGeom prst="roundRect">
            <a:avLst>
              <a:gd name="adj" fmla="val 8000"/>
            </a:avLst>
          </a:prstGeom>
          <a:solidFill>
            <a:srgbClr val="EFF2F7"/>
          </a:solidFill>
          <a:ln w="12700">
            <a:solidFill>
              <a:srgbClr val="D8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82127" y="217627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B84040"/>
                </a:solidFill>
                <a:latin typeface="Aptos"/>
              </a:rPr>
              <a:t>Check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82127" y="2542032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82642"/>
                </a:solidFill>
                <a:latin typeface="Aptos"/>
              </a:rPr>
              <a:t>Set novelty value to zero: rho = 0.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82127" y="338328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82642"/>
                </a:solidFill>
                <a:latin typeface="Aptos"/>
              </a:rPr>
              <a:t>The advantage disappears.</a:t>
            </a:r>
          </a:p>
        </p:txBody>
      </p:sp>
      <p:pic>
        <p:nvPicPr>
          <p:cNvPr id="20" name="Picture 19" descr="rho_ablation_gap_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3794760"/>
            <a:ext cx="3063240" cy="12801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57200" y="6400800"/>
            <a:ext cx="9144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6C7A"/>
                </a:solidFill>
                <a:latin typeface="Aptos"/>
              </a:rPr>
              <a:t>Refs: matched_answered_compare.csv; rho_ablation.csv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411712" y="6291072"/>
            <a:ext cx="310896" cy="237744"/>
          </a:xfrm>
          <a:prstGeom prst="roundRect">
            <a:avLst>
              <a:gd name="adj" fmla="val 18000"/>
            </a:avLst>
          </a:prstGeom>
          <a:solidFill>
            <a:srgbClr val="EFF2F7"/>
          </a:solidFill>
          <a:ln w="12700">
            <a:solidFill>
              <a:srgbClr val="D8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503152" y="6345936"/>
            <a:ext cx="109728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82642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20040"/>
            <a:ext cx="11475720" cy="109728"/>
          </a:xfrm>
          <a:prstGeom prst="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6355080"/>
            <a:ext cx="11475720" cy="18288"/>
          </a:xfrm>
          <a:prstGeom prst="rect">
            <a:avLst/>
          </a:prstGeom>
          <a:solidFill>
            <a:srgbClr val="D8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502920"/>
            <a:ext cx="1371600" cy="91440"/>
          </a:xfrm>
          <a:prstGeom prst="rect">
            <a:avLst/>
          </a:prstGeom>
          <a:solidFill>
            <a:srgbClr val="3A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749808"/>
            <a:ext cx="7863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82642"/>
                </a:solidFill>
                <a:latin typeface="Aptos"/>
              </a:rPr>
              <a:t>Stronger Baselines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70432"/>
            <a:ext cx="8595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6C7A"/>
                </a:solidFill>
                <a:latin typeface="Aptos"/>
              </a:rPr>
              <a:t>Congestion feedback helps, but novelty+capacity is strongest in the mid regime.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36192"/>
            <a:ext cx="1005840" cy="219456"/>
          </a:xfrm>
          <a:prstGeom prst="roundRect">
            <a:avLst>
              <a:gd name="adj" fmla="val 22000"/>
            </a:avLst>
          </a:prstGeom>
          <a:solidFill>
            <a:srgbClr val="3A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581912"/>
            <a:ext cx="749808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Baselines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938528"/>
            <a:ext cx="2926080" cy="3794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17627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A7A57"/>
                </a:solidFill>
                <a:latin typeface="Aptos"/>
              </a:rPr>
              <a:t>Ranking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542032"/>
            <a:ext cx="2377440" cy="2286000"/>
          </a:xfrm>
          <a:prstGeom prst="rect">
            <a:avLst/>
          </a:prstGeom>
          <a:noFill/>
        </p:spPr>
        <p:txBody>
          <a:bodyPr wrap="square" lIns="27432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182642"/>
                </a:solidFill>
                <a:latin typeface="Aptos"/>
              </a:defRPr>
            </a:pPr>
            <a:r>
              <a:t>Uniform: 19.60</a:t>
            </a:r>
          </a:p>
          <a:p>
            <a:pPr>
              <a:spcAft>
                <a:spcPts val="400"/>
              </a:spcAft>
              <a:defRPr sz="1800">
                <a:solidFill>
                  <a:srgbClr val="182642"/>
                </a:solidFill>
                <a:latin typeface="Aptos"/>
              </a:defRPr>
            </a:pPr>
            <a:r>
              <a:t>Capacity-aware: 22.52</a:t>
            </a:r>
          </a:p>
          <a:p>
            <a:pPr>
              <a:spcAft>
                <a:spcPts val="400"/>
              </a:spcAft>
              <a:defRPr sz="1800">
                <a:solidFill>
                  <a:srgbClr val="182642"/>
                </a:solidFill>
                <a:latin typeface="Aptos"/>
              </a:defRPr>
            </a:pPr>
            <a:r>
              <a:t>Targeted novelty: 31.56</a:t>
            </a:r>
          </a:p>
          <a:p>
            <a:pPr>
              <a:spcAft>
                <a:spcPts val="400"/>
              </a:spcAft>
              <a:defRPr sz="1800">
                <a:solidFill>
                  <a:srgbClr val="182642"/>
                </a:solidFill>
                <a:latin typeface="Aptos"/>
              </a:defRPr>
            </a:pPr>
            <a:r>
              <a:t>Novelty + capacity: 33.23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8920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46C7A"/>
                </a:solidFill>
                <a:latin typeface="Aptos"/>
              </a:rPr>
              <a:t>Simple message: composition and congestion both matter.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49039" y="1938528"/>
            <a:ext cx="3886200" cy="3794760"/>
          </a:xfrm>
          <a:prstGeom prst="roundRect">
            <a:avLst>
              <a:gd name="adj" fmla="val 8000"/>
            </a:avLst>
          </a:prstGeom>
          <a:solidFill>
            <a:srgbClr val="EFF2F7"/>
          </a:solidFill>
          <a:ln w="12700">
            <a:solidFill>
              <a:srgbClr val="D8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olicy_compare_extended_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3632" y="2103120"/>
            <a:ext cx="3566160" cy="297180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909560" y="1938528"/>
            <a:ext cx="3840480" cy="3794760"/>
          </a:xfrm>
          <a:prstGeom prst="roundRect">
            <a:avLst>
              <a:gd name="adj" fmla="val 8000"/>
            </a:avLst>
          </a:prstGeom>
          <a:solidFill>
            <a:srgbClr val="EFF2F7"/>
          </a:solidFill>
          <a:ln w="12700">
            <a:solidFill>
              <a:srgbClr val="D8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policy_compare_extended_over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2103120"/>
            <a:ext cx="3520440" cy="2971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7200" y="6400800"/>
            <a:ext cx="9144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6C7A"/>
                </a:solidFill>
                <a:latin typeface="Aptos"/>
              </a:rPr>
              <a:t>Refs: policy_compare_extended.csv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411712" y="6291072"/>
            <a:ext cx="310896" cy="237744"/>
          </a:xfrm>
          <a:prstGeom prst="roundRect">
            <a:avLst>
              <a:gd name="adj" fmla="val 18000"/>
            </a:avLst>
          </a:prstGeom>
          <a:solidFill>
            <a:srgbClr val="EFF2F7"/>
          </a:solidFill>
          <a:ln w="12700">
            <a:solidFill>
              <a:srgbClr val="D8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503152" y="6345936"/>
            <a:ext cx="109728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82642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20040"/>
            <a:ext cx="11475720" cy="109728"/>
          </a:xfrm>
          <a:prstGeom prst="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6355080"/>
            <a:ext cx="11475720" cy="18288"/>
          </a:xfrm>
          <a:prstGeom prst="rect">
            <a:avLst/>
          </a:prstGeom>
          <a:solidFill>
            <a:srgbClr val="D8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502920"/>
            <a:ext cx="1371600" cy="91440"/>
          </a:xfrm>
          <a:prstGeom prst="rect">
            <a:avLst/>
          </a:prstGeom>
          <a:solidFill>
            <a:srgbClr val="1C7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749808"/>
            <a:ext cx="7863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82642"/>
                </a:solidFill>
                <a:latin typeface="Aptos"/>
              </a:rPr>
              <a:t>Tipping And Collapse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70432"/>
            <a:ext cx="8595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6C7A"/>
                </a:solidFill>
                <a:latin typeface="Aptos"/>
              </a:rPr>
              <a:t>The forum does not fail smoothly. There is a collapse region.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36192"/>
            <a:ext cx="1005840" cy="219456"/>
          </a:xfrm>
          <a:prstGeom prst="roundRect">
            <a:avLst>
              <a:gd name="adj" fmla="val 22000"/>
            </a:avLst>
          </a:prstGeom>
          <a:solidFill>
            <a:srgbClr val="1C7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581912"/>
            <a:ext cx="749808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Phase 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938528"/>
            <a:ext cx="2880360" cy="3794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17627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C7E7C"/>
                </a:solidFill>
                <a:latin typeface="Aptos"/>
              </a:rPr>
              <a:t>Intuition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542032"/>
            <a:ext cx="2331720" cy="2377440"/>
          </a:xfrm>
          <a:prstGeom prst="rect">
            <a:avLst/>
          </a:prstGeom>
          <a:noFill/>
        </p:spPr>
        <p:txBody>
          <a:bodyPr wrap="square" lIns="27432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182642"/>
                </a:solidFill>
                <a:latin typeface="Aptos"/>
              </a:defRPr>
            </a:pPr>
            <a:r>
              <a:t>If initial capacity is low, overload starts early.</a:t>
            </a:r>
          </a:p>
          <a:p>
            <a:pPr>
              <a:spcAft>
                <a:spcPts val="400"/>
              </a:spcAft>
              <a:defRPr sz="1800">
                <a:solidFill>
                  <a:srgbClr val="182642"/>
                </a:solidFill>
                <a:latin typeface="Aptos"/>
              </a:defRPr>
            </a:pPr>
            <a:r>
              <a:t>If overload damage is strong, recovery becomes hard.</a:t>
            </a:r>
          </a:p>
          <a:p>
            <a:pPr>
              <a:spcAft>
                <a:spcPts val="400"/>
              </a:spcAft>
              <a:defRPr sz="1800">
                <a:solidFill>
                  <a:srgbClr val="182642"/>
                </a:solidFill>
                <a:latin typeface="Aptos"/>
              </a:defRPr>
            </a:pPr>
            <a:r>
              <a:t>That creates a tipping boundary instead of a small gradual effect.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1938528"/>
            <a:ext cx="3840480" cy="3794760"/>
          </a:xfrm>
          <a:prstGeom prst="roundRect">
            <a:avLst>
              <a:gd name="adj" fmla="val 8000"/>
            </a:avLst>
          </a:prstGeom>
          <a:solidFill>
            <a:srgbClr val="EFF2F7"/>
          </a:solidFill>
          <a:ln w="12700">
            <a:solidFill>
              <a:srgbClr val="D8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ollapse_boundary_c1_x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2191" y="2103120"/>
            <a:ext cx="3520440" cy="29718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818120" y="1938528"/>
            <a:ext cx="3931920" cy="3794760"/>
          </a:xfrm>
          <a:prstGeom prst="roundRect">
            <a:avLst>
              <a:gd name="adj" fmla="val 8000"/>
            </a:avLst>
          </a:prstGeom>
          <a:solidFill>
            <a:srgbClr val="EFF2F7"/>
          </a:solidFill>
          <a:ln w="12700">
            <a:solidFill>
              <a:srgbClr val="D8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timeseries_collap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2712" y="2103120"/>
            <a:ext cx="3611880" cy="2971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7200" y="6400800"/>
            <a:ext cx="9144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6C7A"/>
                </a:solidFill>
                <a:latin typeface="Aptos"/>
              </a:rPr>
              <a:t>Refs: collapse_boundary_c1_xi.csv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11712" y="6291072"/>
            <a:ext cx="310896" cy="237744"/>
          </a:xfrm>
          <a:prstGeom prst="roundRect">
            <a:avLst>
              <a:gd name="adj" fmla="val 18000"/>
            </a:avLst>
          </a:prstGeom>
          <a:solidFill>
            <a:srgbClr val="EFF2F7"/>
          </a:solidFill>
          <a:ln w="12700">
            <a:solidFill>
              <a:srgbClr val="D8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503152" y="6345936"/>
            <a:ext cx="109728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82642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20040"/>
            <a:ext cx="11475720" cy="109728"/>
          </a:xfrm>
          <a:prstGeom prst="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6355080"/>
            <a:ext cx="11475720" cy="18288"/>
          </a:xfrm>
          <a:prstGeom prst="rect">
            <a:avLst/>
          </a:prstGeom>
          <a:solidFill>
            <a:srgbClr val="D8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502920"/>
            <a:ext cx="1371600" cy="91440"/>
          </a:xfrm>
          <a:prstGeom prst="rect">
            <a:avLst/>
          </a:prstGeom>
          <a:solidFill>
            <a:srgbClr val="DC7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749808"/>
            <a:ext cx="7863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82642"/>
                </a:solidFill>
                <a:latin typeface="Aptos"/>
              </a:rPr>
              <a:t>Summary And 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70432"/>
            <a:ext cx="8595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6C7A"/>
                </a:solidFill>
                <a:latin typeface="Aptos"/>
              </a:rPr>
              <a:t>This is the slide to conclude the story clearly for class and professor.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36192"/>
            <a:ext cx="1005840" cy="219456"/>
          </a:xfrm>
          <a:prstGeom prst="roundRect">
            <a:avLst>
              <a:gd name="adj" fmla="val 22000"/>
            </a:avLst>
          </a:prstGeom>
          <a:solidFill>
            <a:srgbClr val="DC7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581912"/>
            <a:ext cx="749808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Summary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938528"/>
            <a:ext cx="3794760" cy="3794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176272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DC7C30"/>
                </a:solidFill>
                <a:latin typeface="Aptos"/>
              </a:rPr>
              <a:t>Three lines to conclude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542032"/>
            <a:ext cx="3154680" cy="2377440"/>
          </a:xfrm>
          <a:prstGeom prst="rect">
            <a:avLst/>
          </a:prstGeom>
          <a:noFill/>
        </p:spPr>
        <p:txBody>
          <a:bodyPr wrap="square" lIns="27432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182642"/>
                </a:solidFill>
                <a:latin typeface="Aptos"/>
              </a:defRPr>
            </a:pPr>
            <a:r>
              <a:t>Base paper: selective response can help learning.</a:t>
            </a:r>
          </a:p>
          <a:p>
            <a:pPr>
              <a:spcAft>
                <a:spcPts val="400"/>
              </a:spcAft>
              <a:defRPr sz="1800">
                <a:solidFill>
                  <a:srgbClr val="182642"/>
                </a:solidFill>
                <a:latin typeface="Aptos"/>
              </a:defRPr>
            </a:pPr>
            <a:r>
              <a:t>Our extension: forums are congestible, so capacity matters.</a:t>
            </a:r>
          </a:p>
          <a:p>
            <a:pPr>
              <a:spcAft>
                <a:spcPts val="400"/>
              </a:spcAft>
              <a:defRPr sz="1800">
                <a:solidFill>
                  <a:srgbClr val="182642"/>
                </a:solidFill>
                <a:latin typeface="Aptos"/>
              </a:defRPr>
            </a:pPr>
            <a:r>
              <a:t>Main lesson: defer the right traffic, not just more traffic.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1938528"/>
            <a:ext cx="3200400" cy="3794760"/>
          </a:xfrm>
          <a:prstGeom prst="roundRect">
            <a:avLst>
              <a:gd name="adj" fmla="val 8000"/>
            </a:avLst>
          </a:prstGeom>
          <a:solidFill>
            <a:srgbClr val="EFF2F7"/>
          </a:solidFill>
          <a:ln w="12700">
            <a:solidFill>
              <a:srgbClr val="D8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10328" y="2176272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DC7C30"/>
                </a:solidFill>
                <a:latin typeface="Aptos"/>
              </a:rPr>
              <a:t>Future 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73752" y="2542032"/>
            <a:ext cx="2560320" cy="2194560"/>
          </a:xfrm>
          <a:prstGeom prst="rect">
            <a:avLst/>
          </a:prstGeom>
          <a:noFill/>
        </p:spPr>
        <p:txBody>
          <a:bodyPr wrap="square" lIns="27432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182642"/>
                </a:solidFill>
                <a:latin typeface="Aptos"/>
              </a:defRPr>
            </a:pPr>
            <a:r>
              <a:t>Use real forum data for calibration.</a:t>
            </a:r>
          </a:p>
          <a:p>
            <a:pPr>
              <a:spcAft>
                <a:spcPts val="400"/>
              </a:spcAft>
              <a:defRPr sz="1800">
                <a:solidFill>
                  <a:srgbClr val="182642"/>
                </a:solidFill>
                <a:latin typeface="Aptos"/>
              </a:defRPr>
            </a:pPr>
            <a:r>
              <a:t>Learn policies instead of hand-designed rules.</a:t>
            </a:r>
          </a:p>
          <a:p>
            <a:pPr>
              <a:spcAft>
                <a:spcPts val="400"/>
              </a:spcAft>
              <a:defRPr sz="1800">
                <a:solidFill>
                  <a:srgbClr val="182642"/>
                </a:solidFill>
                <a:latin typeface="Aptos"/>
              </a:defRPr>
            </a:pPr>
            <a:r>
              <a:t>Model multiple forums and heterogeneous experts.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938528"/>
            <a:ext cx="3611880" cy="3794760"/>
          </a:xfrm>
          <a:prstGeom prst="roundRect">
            <a:avLst>
              <a:gd name="adj" fmla="val 8000"/>
            </a:avLst>
          </a:prstGeom>
          <a:solidFill>
            <a:srgbClr val="EFF2F7"/>
          </a:solidFill>
          <a:ln w="12700">
            <a:solidFill>
              <a:srgbClr val="D8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5048" y="2176272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C7E7C"/>
                </a:solidFill>
                <a:latin typeface="Aptos"/>
              </a:rPr>
              <a:t>References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542032"/>
            <a:ext cx="2880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82642"/>
                </a:solidFill>
                <a:latin typeface="Aptos"/>
              </a:rPr>
              <a:t>Taitler et al. (2025)
Chow (1970)
El-Yaniv (2010)
Madras et al. (2018)
Mozannar and Sontag (2020)
Hardin (1968)
Ostrom (1990)
Vickrey (1969)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00800"/>
            <a:ext cx="9144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6C7A"/>
                </a:solidFill>
                <a:latin typeface="Aptos"/>
              </a:rPr>
              <a:t>Refs: full bibliography in refs.bib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11712" y="6291072"/>
            <a:ext cx="310896" cy="237744"/>
          </a:xfrm>
          <a:prstGeom prst="roundRect">
            <a:avLst>
              <a:gd name="adj" fmla="val 18000"/>
            </a:avLst>
          </a:prstGeom>
          <a:solidFill>
            <a:srgbClr val="EFF2F7"/>
          </a:solidFill>
          <a:ln w="12700">
            <a:solidFill>
              <a:srgbClr val="D8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503152" y="6345936"/>
            <a:ext cx="109728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82642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914400"/>
            <a:ext cx="475488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417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82642"/>
                </a:solidFill>
                <a:latin typeface="Aptos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21488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7E7C"/>
                </a:solidFill>
                <a:latin typeface="Aptos"/>
              </a:rP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283464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82642"/>
                </a:solidFill>
                <a:latin typeface="Aptos"/>
              </a:rPr>
              <a:t>Dikshant Gupta (24108)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315468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82642"/>
                </a:solidFill>
                <a:latin typeface="Aptos"/>
              </a:rPr>
              <a:t>Paras Raina (24170)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143000"/>
            <a:ext cx="475488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olicy_compare_extended_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353312"/>
            <a:ext cx="4297680" cy="2743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56832" y="489204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Strongest mid-regime rule: novelty + capacity.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