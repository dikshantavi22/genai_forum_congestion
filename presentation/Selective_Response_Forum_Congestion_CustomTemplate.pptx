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5394960"/>
          </a:xfrm>
          <a:prstGeom prst="rect">
            <a:avLst/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6126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Selective Response for
GenAI Under Forum
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5F0"/>
                </a:solidFill>
                <a:latin typeface="Aptos"/>
              </a:rPr>
              <a:t>Game Theory 2026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3246120"/>
            <a:ext cx="2148840" cy="310896"/>
          </a:xfrm>
          <a:prstGeom prst="roundRect">
            <a:avLst>
              <a:gd name="adj" fmla="val 18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3319272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Base paper + our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94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Dikshant Gupta (24108)  |  Paras Raina (24170)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133087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0EE"/>
                </a:solidFill>
                <a:latin typeface="Aptos"/>
              </a:rPr>
              <a:t>8-minute plan: Dikshant slides 1-5, Paras slides 6-11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868680"/>
            <a:ext cx="45720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024128"/>
            <a:ext cx="4169663" cy="14813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66560" y="3063240"/>
            <a:ext cx="45720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llapse_boundary_c1_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218688"/>
            <a:ext cx="4169663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39712" y="528523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Selective response helps, but forum congestion changes the policy design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565099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E5F0"/>
                </a:solidFill>
                <a:latin typeface="Aptos"/>
              </a:rPr>
              <a:t>Main message: traffic composition matters, not just answer volume.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Problem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When should GenAI answer directly, and when should it defer users to a human forum?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3749039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7B89"/>
                </a:solidFill>
                <a:latin typeface="Aptos"/>
              </a:rPr>
              <a:t>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68880"/>
            <a:ext cx="3246120" cy="242316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Answer too often: users stop creating human discussions that could become future training signal.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Defer too often: the forum gets overloaded, answers worsen, and experts burn out.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Good policy must trade off immediate service against long-run ecosystem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65960"/>
            <a:ext cx="7132320" cy="361188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7B89"/>
                </a:solidFill>
                <a:latin typeface="Aptos"/>
              </a:rPr>
              <a:t>System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788920"/>
            <a:ext cx="123444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12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2788920"/>
            <a:ext cx="123444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E17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2788920"/>
            <a:ext cx="13716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2A7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66960" y="2788920"/>
            <a:ext cx="118872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BA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026664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3026664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GenAI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026664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Forum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68712" y="3026664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C_t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9260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7B89"/>
                </a:solidFill>
                <a:latin typeface="Aptos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9260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17A1D"/>
                </a:solidFill>
                <a:latin typeface="Aptos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9260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754F"/>
                </a:solidFill>
                <a:latin typeface="Aptos"/>
              </a:rPr>
              <a:t>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97763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A3838"/>
                </a:solidFill>
                <a:latin typeface="Aptos"/>
              </a:rPr>
              <a:t>Overload damages future capacity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8006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2144"/>
                </a:solidFill>
                <a:latin typeface="Aptos"/>
              </a:rPr>
              <a:t>Core idea: the forum is not just a knowledge source. It is a limited shared resource.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Taitler et al. (2025); Hardin (1968); Ostrom (1990)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The same routing problem appears in multiple real settings where human discussion creates reusable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3246120" cy="3154680"/>
          </a:xfrm>
          <a:prstGeom prst="roundRect">
            <a:avLst>
              <a:gd name="adj" fmla="val 10000"/>
            </a:avLst>
          </a:prstGeom>
          <a:solidFill>
            <a:srgbClr val="FFF1E3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8" y="22128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240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32144"/>
                </a:solidFill>
                <a:latin typeface="Aptos"/>
              </a:rPr>
              <a:t>Course forums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8657B"/>
                </a:solidFill>
                <a:latin typeface="Aptos"/>
              </a:rPr>
              <a:t>If GenAI answers every assignment question, fewer student-human explanations remain for later batches.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2" y="1965960"/>
            <a:ext cx="3246120" cy="315468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2128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240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32144"/>
                </a:solidFill>
                <a:latin typeface="Aptos"/>
              </a:rPr>
              <a:t>Developer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78892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8657B"/>
                </a:solidFill>
                <a:latin typeface="Aptos"/>
              </a:rPr>
              <a:t>Redirected traffic can overload technical forums, making expert time the real bottleneck.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1965960"/>
            <a:ext cx="3246120" cy="3154680"/>
          </a:xfrm>
          <a:prstGeom prst="roundRect">
            <a:avLst>
              <a:gd name="adj" fmla="val 10000"/>
            </a:avLst>
          </a:prstGeom>
          <a:solidFill>
            <a:srgbClr val="EBF6EE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99832" y="22128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2A7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240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32144"/>
                </a:solidFill>
                <a:latin typeface="Aptos"/>
              </a:rPr>
              <a:t>Product communities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278892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8657B"/>
                </a:solidFill>
                <a:latin typeface="Aptos"/>
              </a:rPr>
              <a:t>Automation can solve easy issues now while silently shrinking the future knowledge 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02412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513832"/>
            <a:ext cx="9784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32144"/>
                </a:solidFill>
                <a:latin typeface="Aptos"/>
              </a:rPr>
              <a:t>Takeaway: abstention is not only an accuracy decision. It is a platform-design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Horvitz (1999); Amershi et al. (2014); Bansal et al. (2021)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Our project lies where three literatures meet.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Related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3246120" cy="338328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27B89"/>
                </a:solidFill>
                <a:latin typeface="Aptos"/>
              </a:rPr>
              <a:t>Selective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328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32144"/>
                </a:solidFill>
                <a:latin typeface="Aptos"/>
              </a:rPr>
              <a:t>Chow (1970)
El-Yaniv (2010)
Geifman and El-Yaniv (2017)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86791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8657B"/>
                </a:solidFill>
                <a:latin typeface="Aptos"/>
              </a:rPr>
              <a:t>Question: when should the model abstain?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2" y="1965960"/>
            <a:ext cx="3246120" cy="3383280"/>
          </a:xfrm>
          <a:prstGeom prst="roundRect">
            <a:avLst>
              <a:gd name="adj" fmla="val 10000"/>
            </a:avLst>
          </a:prstGeom>
          <a:solidFill>
            <a:srgbClr val="FFF1E3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17A1D"/>
                </a:solidFill>
                <a:latin typeface="Aptos"/>
              </a:rPr>
              <a:t>Learning to 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5328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32144"/>
                </a:solidFill>
                <a:latin typeface="Aptos"/>
              </a:rPr>
              <a:t>Madras et al. (2018)
Mozannar and Sontag (2020)
Kleinberg et al. (2018)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86791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8657B"/>
                </a:solidFill>
                <a:latin typeface="Aptos"/>
              </a:rPr>
              <a:t>Question: when is human expertise more valuable than model output?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1965960"/>
            <a:ext cx="3246120" cy="3383280"/>
          </a:xfrm>
          <a:prstGeom prst="roundRect">
            <a:avLst>
              <a:gd name="adj" fmla="val 10000"/>
            </a:avLst>
          </a:prstGeom>
          <a:solidFill>
            <a:srgbClr val="EBF6EE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2" y="21854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754F"/>
                </a:solidFill>
                <a:latin typeface="Aptos"/>
              </a:rPr>
              <a:t>Congestion / commons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2" y="253288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32144"/>
                </a:solidFill>
                <a:latin typeface="Aptos"/>
              </a:rPr>
              <a:t>Hardin (1968)
Ostrom (1990)
Kleinrock (1975)
Vickrey (1969)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867912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8657B"/>
                </a:solidFill>
                <a:latin typeface="Aptos"/>
              </a:rPr>
              <a:t>Question: what happens when shared systems are overloaded?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532120"/>
            <a:ext cx="937260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5641848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2144"/>
                </a:solidFill>
                <a:latin typeface="Aptos"/>
              </a:rPr>
              <a:t>Gap: prior selective-response work does not model a congestible human forum with endogenous capacity.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Chow (1970); El-Yaniv (2010); Madras et al. (2018); Mozannar and Sontag (2020); Hardin (1968); Ostrom (1990)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This is prior work we build on, not our contribution.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Prior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370332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17A1D"/>
                </a:solidFill>
                <a:latin typeface="Aptos"/>
              </a:rPr>
              <a:t>Base paper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154680" cy="210312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Should GenAI selectively defer some users so human communities continue creating new knowledge?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Main idea: less answering can improve long-run learning.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Reason: deferred interactions generate future human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20240"/>
            <a:ext cx="2834640" cy="3886200"/>
          </a:xfrm>
          <a:prstGeom prst="roundRect">
            <a:avLst>
              <a:gd name="adj" fmla="val 10000"/>
            </a:avLst>
          </a:prstGeom>
          <a:solidFill>
            <a:srgbClr val="FFF1E3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17A1D"/>
                </a:solidFill>
                <a:latin typeface="Aptos"/>
              </a:rPr>
              <a:t>Base paper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2743200"/>
            <a:ext cx="1874519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E17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7488" y="4160520"/>
            <a:ext cx="1874519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2A7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295351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Always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437083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Selective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349300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8657B"/>
                </a:solidFill>
                <a:latin typeface="Aptos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2144"/>
                </a:solidFill>
                <a:latin typeface="Aptos"/>
              </a:rPr>
              <a:t>Some deferral can beat always-answering in long-run learning.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920240"/>
            <a:ext cx="4069080" cy="3886200"/>
          </a:xfrm>
          <a:prstGeom prst="roundRect">
            <a:avLst>
              <a:gd name="adj" fmla="val 10000"/>
            </a:avLst>
          </a:prstGeom>
          <a:solidFill>
            <a:srgbClr val="FCEDED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A3838"/>
                </a:solidFill>
                <a:latin typeface="Aptos"/>
              </a:rPr>
              <a:t>Limitation relevant to our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670048"/>
            <a:ext cx="3429000" cy="237744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Forum is treated as a source of knowledge, not as a congestible shared system.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No endogenous capacity decline or collapse mechanism.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No explicit separation between answer volume and traffic composition effects.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Taitler et al. (2025)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Our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We turn the base paper into a congestion-aware ecosystem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Our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6400800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7B89"/>
                </a:solidFill>
                <a:latin typeface="Aptos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05456"/>
            <a:ext cx="2926080" cy="201168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32144"/>
                </a:solidFill>
                <a:latin typeface="Aptos"/>
              </a:defRPr>
            </a:pPr>
            <a:r>
              <a:t>Deterministic simulator with horizon T = 40.</a:t>
            </a:r>
          </a:p>
          <a:p>
            <a:pPr>
              <a:spcAft>
                <a:spcPts val="400"/>
              </a:spcAft>
              <a:defRPr sz="1700">
                <a:solidFill>
                  <a:srgbClr val="132144"/>
                </a:solidFill>
                <a:latin typeface="Aptos"/>
              </a:defRPr>
            </a:pPr>
            <a:r>
              <a:t>State tracks knowledge stock, forum capacity, choice share, and answered share.</a:t>
            </a:r>
          </a:p>
          <a:p>
            <a:pPr>
              <a:spcAft>
                <a:spcPts val="400"/>
              </a:spcAft>
              <a:defRPr sz="1700">
                <a:solidFill>
                  <a:srgbClr val="132144"/>
                </a:solidFill>
                <a:latin typeface="Aptos"/>
              </a:defRPr>
            </a:pPr>
            <a:r>
              <a:t>Forum throughput falls under overload; capacity can decline over time.</a:t>
            </a:r>
          </a:p>
          <a:p>
            <a:pPr>
              <a:spcAft>
                <a:spcPts val="400"/>
              </a:spcAft>
              <a:defRPr sz="1700">
                <a:solidFill>
                  <a:srgbClr val="132144"/>
                </a:solidFill>
                <a:latin typeface="Aptos"/>
              </a:defRPr>
            </a:pPr>
            <a:r>
              <a:t>Policies compared: uniform, targeted novelty, capacity-aware, novelty+capacity.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606040"/>
            <a:ext cx="1051560" cy="658368"/>
          </a:xfrm>
          <a:prstGeom prst="roundRect">
            <a:avLst>
              <a:gd name="adj" fmla="val 18000"/>
            </a:avLst>
          </a:prstGeom>
          <a:solidFill>
            <a:srgbClr val="E9F2F8"/>
          </a:solidFill>
          <a:ln w="15240">
            <a:solidFill>
              <a:srgbClr val="127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2606040"/>
            <a:ext cx="1051560" cy="658368"/>
          </a:xfrm>
          <a:prstGeom prst="roundRect">
            <a:avLst>
              <a:gd name="adj" fmla="val 18000"/>
            </a:avLst>
          </a:prstGeom>
          <a:solidFill>
            <a:srgbClr val="FFF1E3"/>
          </a:solidFill>
          <a:ln w="15240">
            <a:solidFill>
              <a:srgbClr val="E17A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2606040"/>
            <a:ext cx="1143000" cy="658368"/>
          </a:xfrm>
          <a:prstGeom prst="roundRect">
            <a:avLst>
              <a:gd name="adj" fmla="val 18000"/>
            </a:avLst>
          </a:prstGeom>
          <a:solidFill>
            <a:srgbClr val="EBF6EE"/>
          </a:solidFill>
          <a:ln w="15240">
            <a:solidFill>
              <a:srgbClr val="2A7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2606040"/>
            <a:ext cx="914400" cy="658368"/>
          </a:xfrm>
          <a:prstGeom prst="roundRect">
            <a:avLst>
              <a:gd name="adj" fmla="val 18000"/>
            </a:avLst>
          </a:prstGeom>
          <a:solidFill>
            <a:srgbClr val="FCEDED"/>
          </a:solidFill>
          <a:ln w="15240">
            <a:solidFill>
              <a:srgbClr val="BA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283464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144"/>
                </a:solidFill>
                <a:latin typeface="Aptos"/>
              </a:rP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3464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144"/>
                </a:solidFill>
                <a:latin typeface="Aptos"/>
              </a:rPr>
              <a:t>GenAI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83464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144"/>
                </a:solidFill>
                <a:latin typeface="Aptos"/>
              </a:rPr>
              <a:t>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834640"/>
            <a:ext cx="365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2144"/>
                </a:solidFill>
                <a:latin typeface="Aptos"/>
              </a:rPr>
              <a:t>C_t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779776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7B89"/>
                </a:solidFill>
                <a:latin typeface="Aptos"/>
              </a:rP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79776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17A1D"/>
                </a:solidFill>
                <a:latin typeface="Aptos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779776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754F"/>
                </a:solidFill>
                <a:latin typeface="Aptos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840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A3838"/>
                </a:solidFill>
                <a:latin typeface="Aptos"/>
              </a:rPr>
              <a:t>Overload weakens future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38528"/>
            <a:ext cx="4434840" cy="379476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148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7B89"/>
                </a:solidFill>
                <a:latin typeface="Aptos"/>
              </a:rPr>
              <a:t>New checks we added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523744"/>
            <a:ext cx="3657600" cy="205740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Matched answered-share control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rho = 0 ablation to switch off novelty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Collapse boundary in (C1, xi) space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30-seed robustness comparisons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71231" y="4754880"/>
            <a:ext cx="365760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495604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2144"/>
                </a:solidFill>
                <a:latin typeface="Aptos"/>
              </a:rPr>
              <a:t>This is the part that is original to our team.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project simulator outputs in sim/results and sim/figs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Replication + Extension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First, we replicate the base intuition. Then we show what changes once congestion is modeled.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28803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17A1D"/>
                </a:solidFill>
                <a:latin typeface="Aptos"/>
              </a:rPr>
              <a:t>Replication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14600"/>
            <a:ext cx="2377440" cy="196596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We recover the main base-paper intuition: selective response can improve long-run learning.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But once congestion is introduced, the correct question is not only how much to defer, but which traffic to defer.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9204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57B"/>
                </a:solidFill>
                <a:latin typeface="Aptos"/>
              </a:rPr>
              <a:t>This slide transitions from prior work to our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1920240"/>
            <a:ext cx="3794760" cy="388620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084831"/>
            <a:ext cx="3474720" cy="3063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40480" y="53766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Learning gains across regimes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20240"/>
            <a:ext cx="4023360" cy="3886200"/>
          </a:xfrm>
          <a:prstGeom prst="roundRect">
            <a:avLst>
              <a:gd name="adj" fmla="val 10000"/>
            </a:avLst>
          </a:prstGeom>
          <a:solidFill>
            <a:srgbClr val="FFF1E3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17A1D"/>
                </a:solidFill>
                <a:latin typeface="Aptos"/>
              </a:rPr>
              <a:t>Numbers to say out 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514600"/>
            <a:ext cx="3291840" cy="205740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Stable: S_T 26.15 -&gt; 36.29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Mid: S_T 19.60 -&gt; 31.56, overload 40 -&gt; 25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Collapse: S_T 6.68 -&gt; 9.54, but overload remains 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seed_robustness.csv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Main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Novelty-aware routing improves learning because it changes the composition of forum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6576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7627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7B89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42032"/>
            <a:ext cx="3063240" cy="256032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Uniform throttling controls only volume.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Targeted policy controls composition by sending higher-value traffic to the forum.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Benefit is strongest when the forum is still healthy enough to produce useful knowledge.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38528"/>
            <a:ext cx="3474720" cy="384048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ed_robustness_over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103120"/>
            <a:ext cx="3154680" cy="2971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63440" y="534924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Overload-time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38528"/>
            <a:ext cx="3520440" cy="3840480"/>
          </a:xfrm>
          <a:prstGeom prst="roundRect">
            <a:avLst>
              <a:gd name="adj" fmla="val 10000"/>
            </a:avLst>
          </a:prstGeom>
          <a:solidFill>
            <a:srgbClr val="EBF6EE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olicy_compare_extended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03120"/>
            <a:ext cx="3200400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75904" y="53492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Extended policy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seed_robustness.csv; policy_compare_extended.csv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BA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Mechanism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We tested whether the gain is real or just a reporting artifact.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BA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063240" cy="3840480"/>
          </a:xfrm>
          <a:prstGeom prst="roundRect">
            <a:avLst>
              <a:gd name="adj" fmla="val 10000"/>
            </a:avLst>
          </a:prstGeom>
          <a:solidFill>
            <a:srgbClr val="FCEDED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A3838"/>
                </a:solidFill>
                <a:latin typeface="Aptos"/>
              </a:rPr>
              <a:t>Why these checks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2560320" cy="237744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Matching raw answer rate is not enough once user choice shifts endogenously.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If novelty is the mechanism, the advantage should disappear when novelty has no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938528"/>
            <a:ext cx="36576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ched_answered_compare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2103120"/>
            <a:ext cx="3337560" cy="2971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23360" y="534009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Matched answered-share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938528"/>
            <a:ext cx="393192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ho_ablation_gap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103120"/>
            <a:ext cx="3611880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79" y="534009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rho ablation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matched_answered_compare.csv; rho_ablation.csv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2A7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Tipping And Stronger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Congestion-aware design matters because forum collapse appears in a structured parameter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2A7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Phase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154680" cy="3840480"/>
          </a:xfrm>
          <a:prstGeom prst="roundRect">
            <a:avLst>
              <a:gd name="adj" fmla="val 10000"/>
            </a:avLst>
          </a:prstGeom>
          <a:solidFill>
            <a:srgbClr val="EBF6EE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A754F"/>
                </a:solidFill>
                <a:latin typeface="Aptos"/>
              </a:rPr>
              <a:t>Mid-regime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2651760" cy="228600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Uniform: S_T = 19.60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Capacity-aware: S_T = 22.52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Targeted novelty: S_T = 31.56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Novelty+capacity: S_T = 33.23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8348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8657B"/>
                </a:solidFill>
                <a:latin typeface="Aptos"/>
              </a:rPr>
              <a:t>Best mid-regime policy combines novelty and congestion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938528"/>
            <a:ext cx="3749039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llapse_boundary_c1_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7" y="2103120"/>
            <a:ext cx="3429000" cy="2971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0" y="534009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Explicit collapse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38528"/>
            <a:ext cx="3749039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meseries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103120"/>
            <a:ext cx="3429000" cy="2971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53400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57B"/>
                </a:solidFill>
                <a:latin typeface="Aptos"/>
              </a:rPr>
              <a:t>Collapse time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policy_compare_extended.csv; collapse_boundary_c1_xi.csv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11365992" cy="118872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355080"/>
            <a:ext cx="11365992" cy="18288"/>
          </a:xfrm>
          <a:prstGeom prst="rect">
            <a:avLst/>
          </a:prstGeom>
          <a:solidFill>
            <a:srgbClr val="D2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02920"/>
            <a:ext cx="1508760" cy="91440"/>
          </a:xfrm>
          <a:prstGeom prst="rect">
            <a:avLst/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32144"/>
                </a:solidFill>
                <a:latin typeface="Aptos"/>
              </a:rPr>
              <a:t>Summary And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98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657B"/>
                </a:solidFill>
                <a:latin typeface="Aptos"/>
              </a:rPr>
              <a:t>Final slide before closing: keep the distinction between prior work and our contribution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051560" cy="237744"/>
          </a:xfrm>
          <a:prstGeom prst="roundRect">
            <a:avLst>
              <a:gd name="adj" fmla="val 25000"/>
            </a:avLst>
          </a:prstGeom>
          <a:solidFill>
            <a:srgbClr val="E17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868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Wrap-up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70332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17A1D"/>
                </a:solidFill>
                <a:latin typeface="Aptos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108960" cy="233172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Base paper gives the selective-response intuition.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Our work adds congestion, endogenous capacity, and mechanism tests.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Main lesson: the right traffic should reach the forum, not just less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38528"/>
            <a:ext cx="3566160" cy="3886200"/>
          </a:xfrm>
          <a:prstGeom prst="roundRect">
            <a:avLst>
              <a:gd name="adj" fmla="val 10000"/>
            </a:avLst>
          </a:prstGeom>
          <a:solidFill>
            <a:srgbClr val="FFF1E3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17A1D"/>
                </a:solidFill>
                <a:latin typeface="Aptos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487168"/>
            <a:ext cx="2971800" cy="233172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Calibrate parameters from real forum data.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Learn routing policies instead of hand-designed rules.</a:t>
            </a:r>
          </a:p>
          <a:p>
            <a:pPr>
              <a:spcAft>
                <a:spcPts val="400"/>
              </a:spcAft>
              <a:defRPr sz="1800">
                <a:solidFill>
                  <a:srgbClr val="132144"/>
                </a:solidFill>
                <a:latin typeface="Aptos"/>
              </a:defRPr>
            </a:pPr>
            <a:r>
              <a:t>Model multiple forums and heterogeneous experts.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38528"/>
            <a:ext cx="3429000" cy="3886200"/>
          </a:xfrm>
          <a:prstGeom prst="roundRect">
            <a:avLst>
              <a:gd name="adj" fmla="val 1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7B89"/>
                </a:solidFill>
                <a:latin typeface="Aptos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487168"/>
            <a:ext cx="27889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32144"/>
                </a:solidFill>
                <a:latin typeface="Aptos"/>
              </a:rPr>
              <a:t>Taitler et al. (2025)
Chow (1970)
El-Yaniv (2010)
Madras et al. (2018)
Mozannar and Sontag (2020)
Hardin (1968)
Ostrom (1990)
Vickrey (1969)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00800"/>
            <a:ext cx="8961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657B"/>
                </a:solidFill>
                <a:latin typeface="Aptos"/>
              </a:rPr>
              <a:t>Refs: full bibliography in refs.bib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6291072"/>
            <a:ext cx="347472" cy="256032"/>
          </a:xfrm>
          <a:prstGeom prst="roundRect">
            <a:avLst>
              <a:gd name="adj" fmla="val 20000"/>
            </a:avLst>
          </a:prstGeom>
          <a:solidFill>
            <a:srgbClr val="E9F2F8"/>
          </a:solidFill>
          <a:ln w="15240">
            <a:solidFill>
              <a:srgbClr val="D2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94008" y="6345936"/>
            <a:ext cx="128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214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11155680" cy="5806440"/>
          </a:xfrm>
          <a:prstGeom prst="rect">
            <a:avLst/>
          </a:prstGeom>
          <a:solidFill>
            <a:srgbClr val="13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097280"/>
            <a:ext cx="3749039" cy="384048"/>
          </a:xfrm>
          <a:prstGeom prst="roundRect">
            <a:avLst>
              <a:gd name="adj" fmla="val 18000"/>
            </a:avLst>
          </a:prstGeom>
          <a:solidFill>
            <a:srgbClr val="127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0700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Selective Response for GenAI Under Forum Congestion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E0EE"/>
                </a:solidFill>
                <a:latin typeface="Aptos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4290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Dikshant Gupta (24108)  |  Paras Raina (24170)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417320"/>
            <a:ext cx="38862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licy_compare_extended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64208"/>
            <a:ext cx="3429000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46177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Novelty + capacity baseline is strongest in the mid regime.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