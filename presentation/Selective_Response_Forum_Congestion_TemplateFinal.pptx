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shisht Rao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IN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IN" sz="1400" b="0" strike="noStrike" spc="-1">
                <a:latin typeface="Times New Roman"/>
              </a:defRPr>
            </a:lvl1pPr>
          </a:lstStyle>
          <a:p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F244F693-46A0-47BE-9002-E2B6D5B29A1D}" type="slidenum">
              <a:rPr lang="en-IN" sz="1400" b="0" strike="noStrike" spc="-1">
                <a:latin typeface="Times New Roman"/>
              </a:rPr>
              <a:t>‹#›</a:t>
            </a:fld>
            <a:endParaRPr lang="en-IN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A2674-BBF7-14AD-BD34-FA5EC5C74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>
            <a:extLst>
              <a:ext uri="{FF2B5EF4-FFF2-40B4-BE49-F238E27FC236}">
                <a16:creationId xmlns:a16="http://schemas.microsoft.com/office/drawing/2014/main" id="{A9424A46-71C7-AC0D-AEB4-BC548776E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63" name="PlaceHolder 2">
            <a:extLst>
              <a:ext uri="{FF2B5EF4-FFF2-40B4-BE49-F238E27FC236}">
                <a16:creationId xmlns:a16="http://schemas.microsoft.com/office/drawing/2014/main" id="{98F01201-EB60-A00C-26E9-3DB8A5CC315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t>Open with the question of when GenAI should answer versus defer.</a:t>
            </a:r>
          </a:p>
          <a:p>
            <a:r>
              <a:t>State immediately that the base paper gives the selective-response intuition, while our work adds forum congestion and capacity.</a:t>
            </a:r>
          </a:p>
          <a:p>
            <a:r>
              <a:t>Mention the talk structure in one sentence so the audience knows the flow.</a:t>
            </a:r>
          </a:p>
        </p:txBody>
      </p:sp>
      <p:sp>
        <p:nvSpPr>
          <p:cNvPr id="764" name="PlaceHolder 3">
            <a:extLst>
              <a:ext uri="{FF2B5EF4-FFF2-40B4-BE49-F238E27FC236}">
                <a16:creationId xmlns:a16="http://schemas.microsoft.com/office/drawing/2014/main" id="{0850C11B-9FF5-3056-6803-E3646C4A3766}"/>
              </a:ext>
            </a:extLst>
          </p:cNvPr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IN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5F112B8-EB45-4B0E-9AB3-BA19E8A88817}" type="slidenum">
              <a:rPr lang="en-IN" sz="1200" b="0" strike="noStrike" spc="-1">
                <a:latin typeface="Times New Roman"/>
              </a:rPr>
              <a:t>1</a:t>
            </a:fld>
            <a:endParaRPr lang="en-IN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01934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Explain the story as a feedback loop.</a:t>
            </a:r>
          </a:p>
          <a:p>
            <a:r>
              <a:t>The left box gives the simplest intuition: AI can cannibalize the human forum that produces future knowledge.</a:t>
            </a:r>
          </a:p>
          <a:p>
            <a:r>
              <a:t>The right diagram adds the missing systems idea: the forum has capacity, so too much deferral also creates a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Give one crisp example from each box.</a:t>
            </a:r>
          </a:p>
          <a:p>
            <a:r>
              <a:t>The point is not that these platforms are identical.</a:t>
            </a:r>
          </a:p>
          <a:p>
            <a:r>
              <a:t>The point is that in each case, human interaction generates reusable value, so routing policy affects the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slide is the bridge to the professor-facing contribution statement.</a:t>
            </a:r>
          </a:p>
          <a:p>
            <a:r>
              <a:t>Selective response says abstention matters.</a:t>
            </a:r>
          </a:p>
          <a:p>
            <a:r>
              <a:t>Learning to defer says humans can be the right expert.</a:t>
            </a:r>
          </a:p>
          <a:p>
            <a:r>
              <a:t>Congestion theory says shared systems degrade when overloaded.</a:t>
            </a:r>
          </a:p>
          <a:p>
            <a:r>
              <a:t>Our paper combines those three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State clearly that this is not our contribution.</a:t>
            </a:r>
          </a:p>
          <a:p>
            <a:r>
              <a:t>We replicate the selective-response intuition, but the systems limitation becomes important once a real forum is involved.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Use this as the story slide for the whole model.</a:t>
            </a:r>
          </a:p>
          <a:p>
            <a:r>
              <a:t>Read it left to right and point to one equation box at a time.</a:t>
            </a:r>
          </a:p>
          <a:p>
            <a:r>
              <a:t>Routing determines answered share.</a:t>
            </a:r>
          </a:p>
          <a:p>
            <a:r>
              <a:t>Answered share determines forum load.</a:t>
            </a:r>
          </a:p>
          <a:p>
            <a:r>
              <a:t>Productive forum traffic generates knowledge gain.</a:t>
            </a:r>
          </a:p>
          <a:p>
            <a:r>
              <a:t>Knowledge updates the stock.</a:t>
            </a:r>
          </a:p>
          <a:p>
            <a:r>
              <a:t>If load exceeds capacity, the next-period forum becomes weaker.</a:t>
            </a:r>
          </a:p>
          <a:p>
            <a:r>
              <a:t>End on the bottom overload loop because that is the core new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Spend about 45-60 seconds here.</a:t>
            </a:r>
          </a:p>
          <a:p>
            <a:r>
              <a:t>Say: the slide has only three lines.</a:t>
            </a:r>
          </a:p>
          <a:p>
            <a:r>
              <a:t>First line tells us how much load reaches the forum.</a:t>
            </a:r>
          </a:p>
          <a:p>
            <a:r>
              <a:t>Second line tells us how the forum turns traffic into new knowledge.</a:t>
            </a:r>
          </a:p>
          <a:p>
            <a:r>
              <a:t>Third line tells us why congestion matters: overload reduces future capacity.</a:t>
            </a:r>
          </a:p>
          <a:p>
            <a:r>
              <a:t>Mention that q_t is throughput and n_t is novelty factor only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slide tells the professor exactly what we compare and how.</a:t>
            </a:r>
          </a:p>
          <a:p>
            <a:r>
              <a:t>Mention that the simulator is deterministic apart from novelty draws.</a:t>
            </a:r>
          </a:p>
          <a:p>
            <a:r>
              <a:t>That is why seed variation here is meaningful but controlled.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Start with the middle regime because that is where the economics is clearest.</a:t>
            </a:r>
          </a:p>
          <a:p>
            <a:r>
              <a:t>Then mention stable and collapse briefly.</a:t>
            </a:r>
          </a:p>
          <a:p>
            <a:r>
              <a:t>The audience should leave this slide knowing that targeted novelty helps both learning and overload in the non-collapse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is the professor's slide.</a:t>
            </a:r>
          </a:p>
          <a:p>
            <a:r>
              <a:t>Check 1 says the result is not just because one policy answers more.</a:t>
            </a:r>
          </a:p>
          <a:p>
            <a:r>
              <a:t>Check 2 says the result vanishes exactly when the novelty mechanism is switched off.</a:t>
            </a:r>
          </a:p>
          <a:p>
            <a:r>
              <a:t>Together, these make the causal story much stronger.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Use the left box to explain why tipping matters.</a:t>
            </a:r>
          </a:p>
          <a:p>
            <a:r>
              <a:t>Then summarize in three lines.</a:t>
            </a:r>
          </a:p>
          <a:p>
            <a:r>
              <a:t>Close with future work only briefly.</a:t>
            </a:r>
          </a:p>
          <a:p>
            <a:r>
              <a:t>Keep the final sentence simple: in congested systems, composition matters as much as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Use this slide only if asked for citations or if the professor wants a quick source summary.</a:t>
            </a:r>
          </a:p>
          <a:p>
            <a:r>
              <a:t>Otherwise move through it quickly and then go to the thank-you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Pause here for questions. If asked for the main contribution in one line: we extend selective response to a congested human-forum setting and show that traffic composition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D570678-B1FB-4D4E-B2EA-8D1BEDC9E26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6003E55-ECD4-4C77-BE80-FC4719AF4665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77A81CF-8C72-41A2-81BF-DC6BD2951B4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97AB611-5818-49F0-9DCA-4F63B358F1C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E74EF52-C911-4AC7-B92C-0DEFF3AD0D8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9870ADA-7A7A-47C3-BC57-48E289868A6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5FFE0C7-FEEA-4DB2-9DAA-DCF5CC6F329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EEF0D43-E087-4DA7-849E-CAEDD0333FF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50819C9-2DEA-4D8C-879B-1BEAD514C10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EF27CAB-7067-4274-ACB5-9C217F1E34B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D7EA79A-5BAD-464C-9C25-34A7BD52F903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B5EEFC1-7E2B-4ED8-87C8-3662D14E38CF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IN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IN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N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IN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8BD55BA-8153-4B77-B0BF-FD60B97714C2}" type="slidenum">
              <a:rPr lang="en-IN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jpe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jpe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jpe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jpe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1.jpeg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1.jpe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jpe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.jpe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.jpe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image" Target="../media/image1.jpe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jpe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Relationship Id="rId4" Type="http://schemas.openxmlformats.org/officeDocument/2006/relationships/image" Target="../media/image1.jpeg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5D78C-FB95-46E8-8B97-62163E7CC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itle 1">
            <a:extLst>
              <a:ext uri="{FF2B5EF4-FFF2-40B4-BE49-F238E27FC236}">
                <a16:creationId xmlns:a16="http://schemas.microsoft.com/office/drawing/2014/main" id="{0CDA96B0-D87C-3124-761E-3A58E96B5EAD}"/>
              </a:ext>
            </a:extLst>
          </p:cNvPr>
          <p:cNvSpPr/>
          <p:nvPr/>
        </p:nvSpPr>
        <p:spPr>
          <a:xfrm>
            <a:off x="0" y="74160"/>
            <a:ext cx="12250800" cy="63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1" strike="noStrike" spc="-1">
                <a:solidFill>
                  <a:srgbClr val="FFFFFF"/>
                </a:solidFill>
                <a:latin typeface="Calibri Light"/>
              </a:rPr>
              <a:t> </a:t>
            </a:r>
            <a:r>
              <a:rPr lang="en-US" sz="3600" b="1" strike="noStrike" spc="-1">
                <a:solidFill>
                  <a:srgbClr val="C00000"/>
                </a:solidFill>
                <a:latin typeface="Calibri Light"/>
              </a:rPr>
              <a:t> </a:t>
            </a:r>
            <a:endParaRPr lang="en-IN" sz="3600" b="0" strike="noStrike" spc="-1">
              <a:latin typeface="Arial"/>
            </a:endParaRPr>
          </a:p>
        </p:txBody>
      </p:sp>
      <p:sp>
        <p:nvSpPr>
          <p:cNvPr id="218" name="Title 1">
            <a:extLst>
              <a:ext uri="{FF2B5EF4-FFF2-40B4-BE49-F238E27FC236}">
                <a16:creationId xmlns:a16="http://schemas.microsoft.com/office/drawing/2014/main" id="{417C6BF2-4A27-DCCD-5DDC-32EE31D26CD8}"/>
              </a:ext>
            </a:extLst>
          </p:cNvPr>
          <p:cNvSpPr/>
          <p:nvPr/>
        </p:nvSpPr>
        <p:spPr>
          <a:xfrm>
            <a:off x="-58800" y="119460"/>
            <a:ext cx="12250800" cy="63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r>
              <a:t>Selective Response for GenAI Under Forum Congestion</a:t>
            </a:r>
          </a:p>
        </p:txBody>
      </p:sp>
      <p:pic>
        <p:nvPicPr>
          <p:cNvPr id="222" name="Picture 3" descr="A blue and white logo&#10;&#10;Description automatically generated with medium confidence">
            <a:extLst>
              <a:ext uri="{FF2B5EF4-FFF2-40B4-BE49-F238E27FC236}">
                <a16:creationId xmlns:a16="http://schemas.microsoft.com/office/drawing/2014/main" id="{7D029715-FF62-AB8E-BE49-BB0F174FB684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356594" y="5853600"/>
            <a:ext cx="693720" cy="693720"/>
          </a:xfrm>
          <a:prstGeom prst="rect">
            <a:avLst/>
          </a:prstGeom>
          <a:ln w="0">
            <a:noFill/>
          </a:ln>
        </p:spPr>
      </p:pic>
      <p:pic>
        <p:nvPicPr>
          <p:cNvPr id="2" name="Picture 1" descr="Logo, icon, company name&#10;&#10;Description automatically generated">
            <a:extLst>
              <a:ext uri="{FF2B5EF4-FFF2-40B4-BE49-F238E27FC236}">
                <a16:creationId xmlns:a16="http://schemas.microsoft.com/office/drawing/2014/main" id="{B694D46E-9A3A-F026-9691-3FE2E163B7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43" y="6022661"/>
            <a:ext cx="719732" cy="36811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0BFD156-3771-E6B2-BBF5-5311FC3A1D8E}"/>
              </a:ext>
            </a:extLst>
          </p:cNvPr>
          <p:cNvSpPr/>
          <p:nvPr/>
        </p:nvSpPr>
        <p:spPr>
          <a:xfrm>
            <a:off x="1077687" y="5881860"/>
            <a:ext cx="2197604" cy="63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r>
              <a:t>Dikshant Gupta (24108)  |  Paras Raina (24170)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69FA9E-EE63-E9C8-8DA6-99BD3361B583}"/>
              </a:ext>
            </a:extLst>
          </p:cNvPr>
          <p:cNvSpPr/>
          <p:nvPr/>
        </p:nvSpPr>
        <p:spPr>
          <a:xfrm>
            <a:off x="8916711" y="6088841"/>
            <a:ext cx="2786743" cy="3493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r>
              <a:t>Game Theory 2026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822960" y="1371600"/>
            <a:ext cx="73152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Arial"/>
              </a:rPr>
              <a:t>Base paper + our congestion-aware extension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22960" y="1682496"/>
            <a:ext cx="7498079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Arial"/>
              </a:rPr>
              <a:t>Story: motivation -&gt; literature -&gt; base paper -&gt; our model -&gt; results -&gt; validation</a:t>
            </a:r>
          </a:p>
        </p:txBody>
      </p:sp>
    </p:spTree>
    <p:extLst>
      <p:ext uri="{BB962C8B-B14F-4D97-AF65-F5344CB8AC3E}">
        <p14:creationId xmlns:p14="http://schemas.microsoft.com/office/powerpoint/2010/main" val="12938607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94183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F2D48"/>
                </a:solidFill>
                <a:latin typeface="Arial"/>
              </a:rPr>
              <a:t>The Problem In One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96926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If AI helps too much, people stop creating the human knowledge that AI would have learned from later.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078992"/>
            <a:ext cx="1325880" cy="219456"/>
          </a:xfrm>
          <a:prstGeom prst="roundRect">
            <a:avLst>
              <a:gd name="adj" fmla="val 22000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115568"/>
            <a:ext cx="1024128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3794760" cy="4343400"/>
          </a:xfrm>
          <a:prstGeom prst="roundRect">
            <a:avLst>
              <a:gd name="adj" fmla="val 12000"/>
            </a:avLst>
          </a:prstGeom>
          <a:solidFill>
            <a:srgbClr val="EEF4FD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25603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Arial"/>
              </a:rPr>
              <a:t>Classroom intuition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3154680" cy="265176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If AI answers every forum question, fewer useful human discussions happen.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Those missing discussions reduce future training signal.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But sending everyone to the forum also creates congestion.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029200"/>
            <a:ext cx="31546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1F2D48"/>
                </a:solidFill>
                <a:latin typeface="Arial"/>
              </a:rPr>
              <a:t>So the policy question is not only 'answer or not'. It is 'what kind of traffic should reach humans?'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508760"/>
            <a:ext cx="653796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4608" y="1792224"/>
            <a:ext cx="21945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Arial"/>
              </a:rPr>
              <a:t>System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743200"/>
            <a:ext cx="10972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2743200"/>
            <a:ext cx="10972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79" y="2743200"/>
            <a:ext cx="11887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921240" y="2743200"/>
            <a:ext cx="10058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6944" y="2990088"/>
            <a:ext cx="50292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Arial"/>
              </a:rPr>
              <a:t>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144" y="2990088"/>
            <a:ext cx="50292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Arial"/>
              </a:rPr>
              <a:t>GenAI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2990088"/>
            <a:ext cx="59436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Arial"/>
              </a:rPr>
              <a:t>Forum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2990088"/>
            <a:ext cx="41148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Arial"/>
              </a:rPr>
              <a:t>C_t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07792"/>
            <a:ext cx="219456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1">
                <a:solidFill>
                  <a:srgbClr val="4472C4"/>
                </a:solidFill>
                <a:latin typeface="Arial"/>
              </a:rPr>
              <a:t>-&gt;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907792"/>
            <a:ext cx="219456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1">
                <a:solidFill>
                  <a:srgbClr val="4472C4"/>
                </a:solidFill>
                <a:latin typeface="Arial"/>
              </a:rPr>
              <a:t>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1472" y="2907792"/>
            <a:ext cx="219456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1">
                <a:solidFill>
                  <a:srgbClr val="C00000"/>
                </a:solidFill>
                <a:latin typeface="Arial"/>
              </a:rPr>
              <a:t>-&gt;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9552" y="4315968"/>
            <a:ext cx="484632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1F2D48"/>
                </a:solidFill>
                <a:latin typeface="Arial"/>
              </a:rPr>
              <a:t>Missing idea in the base paper: the forum is a limited-capacity shared resource.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3276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Refs: Taitler et al. (2025); Hardin (1968); Ostrom (1990)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6309360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4472C4"/>
                </a:solidFill>
                <a:latin typeface="Arial"/>
              </a:rPr>
              <a:t>Game Theory 2026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75720" y="6254496"/>
            <a:ext cx="31089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48872" y="6300216"/>
            <a:ext cx="146304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4472C4"/>
                </a:solidFill>
                <a:latin typeface="Arial"/>
              </a:rPr>
              <a:t>2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062472"/>
            <a:ext cx="731520" cy="376331"/>
          </a:xfrm>
          <a:prstGeom prst="rect">
            <a:avLst/>
          </a:prstGeom>
        </p:spPr>
      </p:pic>
      <p:pic>
        <p:nvPicPr>
          <p:cNvPr id="30" name="Picture 29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50992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94183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F2D48"/>
                </a:solidFill>
                <a:latin typeface="Arial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96926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The same selective-response problem appears in multiple real human-AI ecosystems.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078992"/>
            <a:ext cx="1325880" cy="219456"/>
          </a:xfrm>
          <a:prstGeom prst="roundRect">
            <a:avLst>
              <a:gd name="adj" fmla="val 22000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115568"/>
            <a:ext cx="1024128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2971800" cy="4434840"/>
          </a:xfrm>
          <a:prstGeom prst="roundRect">
            <a:avLst>
              <a:gd name="adj" fmla="val 12000"/>
            </a:avLst>
          </a:prstGeom>
          <a:solidFill>
            <a:srgbClr val="FFF5EC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20240"/>
            <a:ext cx="20116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rial"/>
              </a:rPr>
              <a:t>Course forums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31720"/>
            <a:ext cx="2560320" cy="11430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Arial"/>
              </a:rPr>
              <a:t>Student discussions can be reusable learning assets for future batches.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846320"/>
            <a:ext cx="256032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rial"/>
              </a:rPr>
              <a:t>In all three cases, human interaction is not just a backup. It is a productive input.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645920"/>
            <a:ext cx="2971800" cy="4434840"/>
          </a:xfrm>
          <a:prstGeom prst="roundRect">
            <a:avLst>
              <a:gd name="adj" fmla="val 12000"/>
            </a:avLst>
          </a:prstGeom>
          <a:solidFill>
            <a:srgbClr val="EEF4FD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1920240"/>
            <a:ext cx="20116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Arial"/>
              </a:rPr>
              <a:t>Developer forums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2331720"/>
            <a:ext cx="2560320" cy="11430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Arial"/>
              </a:rPr>
              <a:t>Expert communities can be overloaded if AI redirects too many queries.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4846320"/>
            <a:ext cx="256032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rial"/>
              </a:rPr>
              <a:t>In all three cases, human interaction is not just a backup. It is a productive input.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88352" y="1645920"/>
            <a:ext cx="2971800" cy="4434840"/>
          </a:xfrm>
          <a:prstGeom prst="roundRect">
            <a:avLst>
              <a:gd name="adj" fmla="val 12000"/>
            </a:avLst>
          </a:prstGeom>
          <a:solidFill>
            <a:srgbClr val="F0F8F3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920240"/>
            <a:ext cx="20116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00785A"/>
                </a:solidFill>
                <a:latin typeface="Arial"/>
              </a:rPr>
              <a:t>Product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331720"/>
            <a:ext cx="2560320" cy="11430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Arial"/>
              </a:rPr>
              <a:t>Automation can solve today's issue while weakening tomorrow's human knowledge base.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846320"/>
            <a:ext cx="256032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rial"/>
              </a:rPr>
              <a:t>In all three cases, human interaction is not just a backup. It is a productive input.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276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Refs: Horvitz (1999); Amershi et al. (2014); Bansal et al. (2021)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6309360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4472C4"/>
                </a:solidFill>
                <a:latin typeface="Arial"/>
              </a:rPr>
              <a:t>Game Theory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75720" y="6254496"/>
            <a:ext cx="31089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48872" y="6300216"/>
            <a:ext cx="146304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4472C4"/>
                </a:solidFill>
                <a:latin typeface="Arial"/>
              </a:rPr>
              <a:t>3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062472"/>
            <a:ext cx="731520" cy="376331"/>
          </a:xfrm>
          <a:prstGeom prst="rect">
            <a:avLst/>
          </a:prstGeom>
        </p:spPr>
      </p:pic>
      <p:pic>
        <p:nvPicPr>
          <p:cNvPr id="24" name="Picture 23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50992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94183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F2D48"/>
                </a:solidFill>
                <a:latin typeface="Arial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96926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Our project sits where selective classification, learning to defer, and congestion economics meet.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078992"/>
            <a:ext cx="1325880" cy="219456"/>
          </a:xfrm>
          <a:prstGeom prst="roundRect">
            <a:avLst>
              <a:gd name="adj" fmla="val 22000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115568"/>
            <a:ext cx="1024128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Literature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971800" cy="4206240"/>
          </a:xfrm>
          <a:prstGeom prst="roundRect">
            <a:avLst>
              <a:gd name="adj" fmla="val 12000"/>
            </a:avLst>
          </a:prstGeom>
          <a:solidFill>
            <a:srgbClr val="EEF4FD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4472C4"/>
                </a:solidFill>
                <a:latin typeface="Arial"/>
              </a:rPr>
              <a:t>Selective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77440"/>
            <a:ext cx="246888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282828"/>
                </a:solidFill>
                <a:latin typeface="Arial"/>
              </a:rPr>
              <a:t>Chow (1970)
El-Yaniv (2010)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4160520"/>
            <a:ext cx="256032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  <a:latin typeface="Arial"/>
              </a:rPr>
              <a:t>When should the model abstain?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691640"/>
            <a:ext cx="2971800" cy="4206240"/>
          </a:xfrm>
          <a:prstGeom prst="roundRect">
            <a:avLst>
              <a:gd name="adj" fmla="val 12000"/>
            </a:avLst>
          </a:prstGeom>
          <a:solidFill>
            <a:srgbClr val="FFF5EC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938528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D97706"/>
                </a:solidFill>
                <a:latin typeface="Arial"/>
              </a:rPr>
              <a:t>Learning to defer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377440"/>
            <a:ext cx="246888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282828"/>
                </a:solidFill>
                <a:latin typeface="Arial"/>
              </a:rPr>
              <a:t>Madras et al. (2018)
Mozannar and Sontag (2020)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160520"/>
            <a:ext cx="256032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  <a:latin typeface="Arial"/>
              </a:rPr>
              <a:t>When should humans take over?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88352" y="1691640"/>
            <a:ext cx="2971800" cy="4206240"/>
          </a:xfrm>
          <a:prstGeom prst="roundRect">
            <a:avLst>
              <a:gd name="adj" fmla="val 12000"/>
            </a:avLst>
          </a:prstGeom>
          <a:solidFill>
            <a:srgbClr val="F0F8F3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231" y="1938528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00785A"/>
                </a:solidFill>
                <a:latin typeface="Arial"/>
              </a:rPr>
              <a:t>Congestion / commons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1" y="2377440"/>
            <a:ext cx="246888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282828"/>
                </a:solidFill>
                <a:latin typeface="Arial"/>
              </a:rPr>
              <a:t>Hardin (1968)
Ostrom (1990)
Kleinrock (1975)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4160520"/>
            <a:ext cx="256032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  <a:latin typeface="Arial"/>
              </a:rPr>
              <a:t>What happens when a shared system is overloaded?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5532120"/>
            <a:ext cx="909828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4752" y="5614416"/>
            <a:ext cx="859536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Arial"/>
              </a:rPr>
              <a:t>Gap: prior selective-response work does not model the forum as a congestible, state-dependent resource.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276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Refs: Chow (1970); El-Yaniv (2010); Madras et al. (2018); Mozannar and Sontag (2020); Hardin (1968); Ostrom (1990)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6309360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4472C4"/>
                </a:solidFill>
                <a:latin typeface="Arial"/>
              </a:rPr>
              <a:t>Game Theory 2026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75720" y="6254496"/>
            <a:ext cx="31089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48872" y="6300216"/>
            <a:ext cx="146304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4472C4"/>
                </a:solidFill>
                <a:latin typeface="Arial"/>
              </a:rPr>
              <a:t>4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062472"/>
            <a:ext cx="731520" cy="376331"/>
          </a:xfrm>
          <a:prstGeom prst="rect">
            <a:avLst/>
          </a:prstGeom>
        </p:spPr>
      </p:pic>
      <p:pic>
        <p:nvPicPr>
          <p:cNvPr id="26" name="Picture 25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50992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94183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F2D48"/>
                </a:solidFill>
                <a:latin typeface="Arial"/>
              </a:rPr>
              <a:t>Base Paper: Idea, Result, 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96926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This slide is explicitly prior work and should be spoken as prior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078992"/>
            <a:ext cx="1325880" cy="219456"/>
          </a:xfrm>
          <a:prstGeom prst="roundRect">
            <a:avLst>
              <a:gd name="adj" fmla="val 22000"/>
            </a:avLst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115568"/>
            <a:ext cx="1024128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Base paper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64208"/>
            <a:ext cx="365760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20240"/>
            <a:ext cx="24688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rial"/>
              </a:rPr>
              <a:t>Base paper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67712"/>
            <a:ext cx="3017520" cy="233172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Selective response can improve long-run learning.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Reason: unanswered queries can create future human-generated signal.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So always answering is not necessarily optimal.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64208"/>
            <a:ext cx="2423160" cy="4297680"/>
          </a:xfrm>
          <a:prstGeom prst="roundRect">
            <a:avLst>
              <a:gd name="adj" fmla="val 12000"/>
            </a:avLst>
          </a:prstGeom>
          <a:solidFill>
            <a:srgbClr val="FFF5EC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920240"/>
            <a:ext cx="17373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rial"/>
              </a:rPr>
              <a:t>Intuition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2352" y="2743200"/>
            <a:ext cx="14630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02352" y="4078224"/>
            <a:ext cx="14630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962656"/>
            <a:ext cx="86868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282828"/>
                </a:solidFill>
                <a:latin typeface="Arial"/>
              </a:rPr>
              <a:t>Always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4297680"/>
            <a:ext cx="100584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282828"/>
                </a:solidFill>
                <a:latin typeface="Arial"/>
              </a:rPr>
              <a:t>Selective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5074920"/>
            <a:ext cx="182880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Arial"/>
              </a:rPr>
              <a:t>Sometimes less answering creates more future learning.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664208"/>
            <a:ext cx="3886200" cy="4297680"/>
          </a:xfrm>
          <a:prstGeom prst="roundRect">
            <a:avLst>
              <a:gd name="adj" fmla="val 12000"/>
            </a:avLst>
          </a:prstGeom>
          <a:solidFill>
            <a:srgbClr val="FDF0F0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1231" y="1920240"/>
            <a:ext cx="23774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C00000"/>
                </a:solidFill>
                <a:latin typeface="Arial"/>
              </a:rPr>
              <a:t>Limitation for our setting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6" y="2267712"/>
            <a:ext cx="3246120" cy="233172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The forum is not capacity-limited.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There is no overload damage or collapse.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Volume effects and composition effects are not separated.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3276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Refs: Taitler et al. (2025)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6309360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4472C4"/>
                </a:solidFill>
                <a:latin typeface="Arial"/>
              </a:rPr>
              <a:t>Game Theory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75720" y="6254496"/>
            <a:ext cx="31089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548872" y="6300216"/>
            <a:ext cx="146304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4472C4"/>
                </a:solidFill>
                <a:latin typeface="Arial"/>
              </a:rPr>
              <a:t>5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062472"/>
            <a:ext cx="731520" cy="376331"/>
          </a:xfrm>
          <a:prstGeom prst="rect">
            <a:avLst/>
          </a:prstGeom>
        </p:spPr>
      </p:pic>
      <p:pic>
        <p:nvPicPr>
          <p:cNvPr id="25" name="Picture 24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50992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94183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F2D48"/>
                </a:solidFill>
                <a:latin typeface="Arial"/>
              </a:rPr>
              <a:t>How The Equations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96926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Read this slide left to right: each box corresponds to one term in the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078992"/>
            <a:ext cx="1325880" cy="219456"/>
          </a:xfrm>
          <a:prstGeom prst="roundRect">
            <a:avLst>
              <a:gd name="adj" fmla="val 22000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115568"/>
            <a:ext cx="1024128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Flowchart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10561320" cy="4434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83664"/>
            <a:ext cx="30175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Arial"/>
              </a:rPr>
              <a:t>Equation-aware flowchart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59152"/>
            <a:ext cx="1325880" cy="640080"/>
          </a:xfrm>
          <a:prstGeom prst="roundRect">
            <a:avLst>
              <a:gd name="adj" fmla="val 12000"/>
            </a:avLst>
          </a:prstGeom>
          <a:solidFill>
            <a:srgbClr val="EEF4FD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50592"/>
            <a:ext cx="1179576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282828"/>
                </a:solidFill>
                <a:latin typeface="Arial"/>
              </a:rPr>
              <a:t>1.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33472"/>
            <a:ext cx="1143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</a:rPr>
              <a:t>Policy chooses
answered vs deferred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200400"/>
            <a:ext cx="132588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low_eq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282696"/>
            <a:ext cx="1179576" cy="5427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" y="3685032"/>
            <a:ext cx="1234439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Arial"/>
              </a:rPr>
              <a:t>What AI answers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2359152"/>
            <a:ext cx="1417320" cy="640080"/>
          </a:xfrm>
          <a:prstGeom prst="roundRect">
            <a:avLst>
              <a:gd name="adj" fmla="val 12000"/>
            </a:avLst>
          </a:prstGeom>
          <a:solidFill>
            <a:srgbClr val="EEF4FD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24912" y="2450592"/>
            <a:ext cx="1271016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282828"/>
                </a:solidFill>
                <a:latin typeface="Arial"/>
              </a:rPr>
              <a:t>2. Forum 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633472"/>
            <a:ext cx="12344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</a:rPr>
              <a:t>Deferred users reach
forum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3200400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low_eq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912" y="3282696"/>
            <a:ext cx="1271016" cy="2976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697479" y="3685032"/>
            <a:ext cx="1325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Arial"/>
              </a:rPr>
              <a:t>Load on forum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2359152"/>
            <a:ext cx="1417320" cy="640080"/>
          </a:xfrm>
          <a:prstGeom prst="roundRect">
            <a:avLst>
              <a:gd name="adj" fmla="val 12000"/>
            </a:avLst>
          </a:prstGeom>
          <a:solidFill>
            <a:srgbClr val="F0F8F3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2450592"/>
            <a:ext cx="1271016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282828"/>
                </a:solidFill>
                <a:latin typeface="Arial"/>
              </a:rPr>
              <a:t>3. Productive forum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633472"/>
            <a:ext cx="12344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</a:rPr>
              <a:t>Useful throughput and
novelty matter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200400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low_eq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3282696"/>
            <a:ext cx="1271016" cy="36595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17720" y="3685032"/>
            <a:ext cx="1325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Arial"/>
              </a:rPr>
              <a:t>Knowledge gain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359152"/>
            <a:ext cx="1325880" cy="640080"/>
          </a:xfrm>
          <a:prstGeom prst="roundRect">
            <a:avLst>
              <a:gd name="adj" fmla="val 12000"/>
            </a:avLst>
          </a:prstGeom>
          <a:solidFill>
            <a:srgbClr val="F0F8F3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2450592"/>
            <a:ext cx="1179576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282828"/>
                </a:solidFill>
                <a:latin typeface="Arial"/>
              </a:rPr>
              <a:t>4. Knowledge stock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9" y="2633472"/>
            <a:ext cx="1143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</a:rPr>
              <a:t>New knowledge is
accumulated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200400"/>
            <a:ext cx="132588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low_eq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3282696"/>
            <a:ext cx="1179576" cy="25745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37959" y="3685032"/>
            <a:ext cx="1234439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Arial"/>
              </a:rPr>
              <a:t>Future AI improves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2359152"/>
            <a:ext cx="1645920" cy="640080"/>
          </a:xfrm>
          <a:prstGeom prst="roundRect">
            <a:avLst>
              <a:gd name="adj" fmla="val 12000"/>
            </a:avLst>
          </a:prstGeom>
          <a:solidFill>
            <a:srgbClr val="FFF5EC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8472" y="2450592"/>
            <a:ext cx="1499616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282828"/>
                </a:solidFill>
                <a:latin typeface="Arial"/>
              </a:rPr>
              <a:t>5. Capacity update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633472"/>
            <a:ext cx="14630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</a:rPr>
              <a:t>Overload changes next
period forum health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75320" y="3200400"/>
            <a:ext cx="164592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low_eq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3282696"/>
            <a:ext cx="1499616" cy="14596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321040" y="3685032"/>
            <a:ext cx="15544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Arial"/>
              </a:rPr>
              <a:t>Forum may weaken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2615184"/>
            <a:ext cx="237744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200" b="1">
                <a:solidFill>
                  <a:srgbClr val="4472C4"/>
                </a:solidFill>
                <a:latin typeface="Arial"/>
              </a:rPr>
              <a:t>-&gt;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0520" y="2615184"/>
            <a:ext cx="237744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200" b="1">
                <a:solidFill>
                  <a:srgbClr val="4472C4"/>
                </a:solidFill>
                <a:latin typeface="Arial"/>
              </a:rPr>
              <a:t>-&gt;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2615184"/>
            <a:ext cx="237744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200" b="1">
                <a:solidFill>
                  <a:srgbClr val="4472C4"/>
                </a:solidFill>
                <a:latin typeface="Arial"/>
              </a:rPr>
              <a:t>-&gt;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2615184"/>
            <a:ext cx="237744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200" b="1">
                <a:solidFill>
                  <a:srgbClr val="4472C4"/>
                </a:solidFill>
                <a:latin typeface="Arial"/>
              </a:rPr>
              <a:t>-&gt;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80360" y="4892040"/>
            <a:ext cx="2011680" cy="640080"/>
          </a:xfrm>
          <a:prstGeom prst="roundRect">
            <a:avLst>
              <a:gd name="adj" fmla="val 12000"/>
            </a:avLst>
          </a:prstGeom>
          <a:solidFill>
            <a:srgbClr val="FDF0F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577840" y="4892040"/>
            <a:ext cx="2011680" cy="640080"/>
          </a:xfrm>
          <a:prstGeom prst="roundRect">
            <a:avLst>
              <a:gd name="adj" fmla="val 12000"/>
            </a:avLst>
          </a:prstGeom>
          <a:solidFill>
            <a:srgbClr val="EEF4FD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27248" y="5120640"/>
            <a:ext cx="150876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C00000"/>
                </a:solidFill>
                <a:latin typeface="Arial"/>
              </a:rPr>
              <a:t>If m_t &gt; C_t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6440" y="5120640"/>
            <a:ext cx="155448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4472C4"/>
                </a:solidFill>
                <a:latin typeface="Arial"/>
              </a:rPr>
              <a:t>Next capacity falls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19472" y="5056632"/>
            <a:ext cx="310896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200" b="1">
                <a:solidFill>
                  <a:srgbClr val="C00000"/>
                </a:solidFill>
                <a:latin typeface="Arial"/>
              </a:rPr>
              <a:t>-&gt;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73568" y="4882896"/>
            <a:ext cx="251460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1F2D48"/>
                </a:solidFill>
                <a:latin typeface="Arial"/>
              </a:rPr>
              <a:t>This feedback loop is the main extension over the base paper.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3276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Refs: simulator structure from paper/main.tex and sim/model.py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60" y="6309360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4472C4"/>
                </a:solidFill>
                <a:latin typeface="Arial"/>
              </a:rPr>
              <a:t>Game Theory 2026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475720" y="6254496"/>
            <a:ext cx="31089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548872" y="6300216"/>
            <a:ext cx="146304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4472C4"/>
                </a:solidFill>
                <a:latin typeface="Arial"/>
              </a:rPr>
              <a:t>6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6062472"/>
            <a:ext cx="731520" cy="376331"/>
          </a:xfrm>
          <a:prstGeom prst="rect">
            <a:avLst/>
          </a:prstGeom>
        </p:spPr>
      </p:pic>
      <p:pic>
        <p:nvPicPr>
          <p:cNvPr id="54" name="Picture 53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5952" y="5650992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94183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F2D48"/>
                </a:solidFill>
                <a:latin typeface="Arial"/>
              </a:rPr>
              <a:t>Core Equations And 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96926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To satisfy the mathematical expectation, we make the mechanism explicit but keep the notation light.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078992"/>
            <a:ext cx="1325880" cy="219456"/>
          </a:xfrm>
          <a:prstGeom prst="roundRect">
            <a:avLst>
              <a:gd name="adj" fmla="val 22000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115568"/>
            <a:ext cx="1024128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Math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626364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01952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Arial"/>
              </a:rPr>
              <a:t>Model in 3 lines</a:t>
            </a:r>
          </a:p>
        </p:txBody>
      </p:sp>
      <p:pic>
        <p:nvPicPr>
          <p:cNvPr id="9" name="Picture 8" descr="eq_clea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331720"/>
            <a:ext cx="3566160" cy="800462"/>
          </a:xfrm>
          <a:prstGeom prst="rect">
            <a:avLst/>
          </a:prstGeom>
        </p:spPr>
      </p:pic>
      <p:pic>
        <p:nvPicPr>
          <p:cNvPr id="10" name="Picture 9" descr="eq_clean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063240"/>
            <a:ext cx="3566160" cy="633869"/>
          </a:xfrm>
          <a:prstGeom prst="rect">
            <a:avLst/>
          </a:prstGeom>
        </p:spPr>
      </p:pic>
      <p:pic>
        <p:nvPicPr>
          <p:cNvPr id="11" name="Picture 10" descr="eq_clean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858768"/>
            <a:ext cx="5394960" cy="4017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2688" y="4983480"/>
            <a:ext cx="53035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Here, q_t = throughput and n_t = novelty factor; (x)^{+} means max(x,0).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691640"/>
            <a:ext cx="4023360" cy="4160520"/>
          </a:xfrm>
          <a:prstGeom prst="roundRect">
            <a:avLst>
              <a:gd name="adj" fmla="val 12000"/>
            </a:avLst>
          </a:prstGeom>
          <a:solidFill>
            <a:srgbClr val="EEF4FD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7" y="1901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Arial"/>
              </a:rPr>
              <a:t>How to read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2267712"/>
            <a:ext cx="3246120" cy="196596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Line 1: how much traffic reaches the forum.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Line 2: forum traffic creates new knowledge.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Line 3: overload reduces future forum capacity.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4927" y="457200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4754880"/>
            <a:ext cx="3246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1F2D48"/>
                </a:solidFill>
                <a:latin typeface="Arial"/>
              </a:rPr>
              <a:t>Intuition: the forum helps learning today, but too much load can damage learning tomorrow.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276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Refs: model equations from paper/main.tex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6309360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4472C4"/>
                </a:solidFill>
                <a:latin typeface="Arial"/>
              </a:rPr>
              <a:t>Game Theory 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75720" y="6254496"/>
            <a:ext cx="31089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48872" y="6300216"/>
            <a:ext cx="146304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4472C4"/>
                </a:solidFill>
                <a:latin typeface="Arial"/>
              </a:rPr>
              <a:t>7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6062472"/>
            <a:ext cx="731520" cy="376331"/>
          </a:xfrm>
          <a:prstGeom prst="rect">
            <a:avLst/>
          </a:prstGeom>
        </p:spPr>
      </p:pic>
      <p:pic>
        <p:nvPicPr>
          <p:cNvPr id="23" name="Picture 22" descr="im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5952" y="5650992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94183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F2D48"/>
                </a:solidFill>
                <a:latin typeface="Arial"/>
              </a:rPr>
              <a:t>Experiment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96926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We test both replication and our new congestion-aware claims.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078992"/>
            <a:ext cx="1325880" cy="219456"/>
          </a:xfrm>
          <a:prstGeom prst="roundRect">
            <a:avLst>
              <a:gd name="adj" fmla="val 22000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115568"/>
            <a:ext cx="1024128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2971800" cy="4480560"/>
          </a:xfrm>
          <a:prstGeom prst="roundRect">
            <a:avLst>
              <a:gd name="adj" fmla="val 12000"/>
            </a:avLst>
          </a:prstGeom>
          <a:solidFill>
            <a:srgbClr val="EEF4FD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Arial"/>
              </a:rPr>
              <a:t>Policies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9152"/>
            <a:ext cx="2560320" cy="292608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Uniform throttling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Targeted novelty policy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Capacity-aware baseline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Novelty + capacity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37360"/>
            <a:ext cx="2971800" cy="4480560"/>
          </a:xfrm>
          <a:prstGeom prst="roundRect">
            <a:avLst>
              <a:gd name="adj" fmla="val 12000"/>
            </a:avLst>
          </a:prstGeom>
          <a:solidFill>
            <a:srgbClr val="FFF5EC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1993392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rial"/>
              </a:rPr>
              <a:t>Regimes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3672" y="2359152"/>
            <a:ext cx="2560320" cy="292608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Stable: C1 = 0.85, xi = 0.04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Mid: C1 = 0.60, xi = 0.10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Collapse: C1 = 0.35, xi = 0.35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30 novelty seeds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737360"/>
            <a:ext cx="2971800" cy="4480560"/>
          </a:xfrm>
          <a:prstGeom prst="roundRect">
            <a:avLst>
              <a:gd name="adj" fmla="val 12000"/>
            </a:avLst>
          </a:prstGeom>
          <a:solidFill>
            <a:srgbClr val="F0F8F3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53528" y="1993392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00785A"/>
                </a:solidFill>
                <a:latin typeface="Arial"/>
              </a:rPr>
              <a:t>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2" y="2359152"/>
            <a:ext cx="2560320" cy="292608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Final learning S_T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Minimum capacity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Overload time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Average answered share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Welfare and revenue proxies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276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Refs: sim/results/summary.md; sim/results/extra/summary_extra.md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6309360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4472C4"/>
                </a:solidFill>
                <a:latin typeface="Arial"/>
              </a:rPr>
              <a:t>Game Theory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75720" y="6254496"/>
            <a:ext cx="31089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48872" y="6300216"/>
            <a:ext cx="146304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4472C4"/>
                </a:solidFill>
                <a:latin typeface="Arial"/>
              </a:rPr>
              <a:t>8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062472"/>
            <a:ext cx="731520" cy="376331"/>
          </a:xfrm>
          <a:prstGeom prst="rect">
            <a:avLst/>
          </a:prstGeom>
        </p:spPr>
      </p:pic>
      <p:pic>
        <p:nvPicPr>
          <p:cNvPr id="21" name="Picture 20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50992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94183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F2D48"/>
                </a:solidFill>
                <a:latin typeface="Arial"/>
              </a:rPr>
              <a:t>Main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96926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Novelty-aware routing dominates uniform throttling across regimes.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078992"/>
            <a:ext cx="1325880" cy="219456"/>
          </a:xfrm>
          <a:prstGeom prst="roundRect">
            <a:avLst>
              <a:gd name="adj" fmla="val 22000"/>
            </a:avLst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115568"/>
            <a:ext cx="1024128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292608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75104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rial"/>
              </a:rP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31720"/>
            <a:ext cx="2377440" cy="246888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Targeted novelty-aware deferral outperforms uniform throttling in all regimes.</a:t>
            </a:r>
          </a:p>
          <a:p>
            <a:pPr>
              <a:spcAft>
                <a:spcPts val="4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The largest gain appears in the mid regime: 19.60 -&gt; 31.56, with overload falling from 40 to 25.</a:t>
            </a:r>
          </a:p>
          <a:p>
            <a:pPr>
              <a:spcAft>
                <a:spcPts val="4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Even in collapse, targeted routing still improves final learning: 6.68 -&gt; 9.54.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5120640"/>
            <a:ext cx="23317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rial"/>
              </a:rPr>
              <a:t>Interpretation: the forum receives more useful traffic, not just more traffic.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22191" y="1719072"/>
            <a:ext cx="3703320" cy="4389120"/>
          </a:xfrm>
          <a:prstGeom prst="roundRect">
            <a:avLst>
              <a:gd name="adj" fmla="val 12000"/>
            </a:avLst>
          </a:prstGeom>
          <a:solidFill>
            <a:srgbClr val="EEF4FD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eed_robustness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920240"/>
            <a:ext cx="3337560" cy="32461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754112" y="1719072"/>
            <a:ext cx="3703320" cy="4389120"/>
          </a:xfrm>
          <a:prstGeom prst="roundRect">
            <a:avLst>
              <a:gd name="adj" fmla="val 12000"/>
            </a:avLst>
          </a:prstGeom>
          <a:solidFill>
            <a:srgbClr val="EEF4FD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eed_robustness_over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1920240"/>
            <a:ext cx="3337560" cy="3246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63276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Refs: seed_robustness.csv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6309360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4472C4"/>
                </a:solidFill>
                <a:latin typeface="Arial"/>
              </a:rPr>
              <a:t>Game Theory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75720" y="6254496"/>
            <a:ext cx="31089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48872" y="6300216"/>
            <a:ext cx="146304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4472C4"/>
                </a:solidFill>
                <a:latin typeface="Arial"/>
              </a:rPr>
              <a:t>9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062472"/>
            <a:ext cx="731520" cy="376331"/>
          </a:xfrm>
          <a:prstGeom prst="rect">
            <a:avLst/>
          </a:prstGeom>
        </p:spPr>
      </p:pic>
      <p:pic>
        <p:nvPicPr>
          <p:cNvPr id="20" name="Picture 19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5952" y="5650992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94183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F2D48"/>
                </a:solidFill>
                <a:latin typeface="Arial"/>
              </a:rPr>
              <a:t>Mechanism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96926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We test whether the targeted gain is truly a composition effect.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078992"/>
            <a:ext cx="1325880" cy="219456"/>
          </a:xfrm>
          <a:prstGeom prst="roundRect">
            <a:avLst>
              <a:gd name="adj" fmla="val 22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115568"/>
            <a:ext cx="1024128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2743200" cy="4389120"/>
          </a:xfrm>
          <a:prstGeom prst="roundRect">
            <a:avLst>
              <a:gd name="adj" fmla="val 12000"/>
            </a:avLst>
          </a:prstGeom>
          <a:solidFill>
            <a:srgbClr val="FDF0F0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75104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C00000"/>
                </a:solidFill>
                <a:latin typeface="Arial"/>
              </a:rPr>
              <a:t>Two strongest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31720"/>
            <a:ext cx="2194560" cy="256032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Matched answered-share control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rho = 0 ablation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Together, they isolate the intended mechanism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75887" y="1719072"/>
            <a:ext cx="365760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atched_answered_compare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1920240"/>
            <a:ext cx="3291840" cy="3246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86200" y="5321808"/>
            <a:ext cx="31089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Arial"/>
              </a:rPr>
              <a:t>Even at matched answered share, targeted reaches 31.35 vs 20.58.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07808" y="1719072"/>
            <a:ext cx="384048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ho_ablation_gap_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88" y="1920240"/>
            <a:ext cx="3474720" cy="3246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18120" y="5321808"/>
            <a:ext cx="31089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Arial"/>
              </a:rPr>
              <a:t>When novelty has zero value, the targeted advantage disappears.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276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Refs: matched_answered_compare.csv; rho_ablation.csv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6309360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4472C4"/>
                </a:solidFill>
                <a:latin typeface="Arial"/>
              </a:rPr>
              <a:t>Game Theory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75720" y="6254496"/>
            <a:ext cx="31089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48872" y="6300216"/>
            <a:ext cx="146304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4472C4"/>
                </a:solidFill>
                <a:latin typeface="Arial"/>
              </a:rPr>
              <a:t>10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062472"/>
            <a:ext cx="731520" cy="376331"/>
          </a:xfrm>
          <a:prstGeom prst="rect">
            <a:avLst/>
          </a:prstGeom>
        </p:spPr>
      </p:pic>
      <p:pic>
        <p:nvPicPr>
          <p:cNvPr id="21" name="Picture 20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5952" y="5650992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94183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F2D48"/>
                </a:solidFill>
                <a:latin typeface="Arial"/>
              </a:rPr>
              <a:t>Tipping, Summary,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96926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We end with the systems insight, the main lesson, and what remains open.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078992"/>
            <a:ext cx="1325880" cy="219456"/>
          </a:xfrm>
          <a:prstGeom prst="roundRect">
            <a:avLst>
              <a:gd name="adj" fmla="val 22000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115568"/>
            <a:ext cx="1024128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657600" cy="4480560"/>
          </a:xfrm>
          <a:prstGeom prst="roundRect">
            <a:avLst>
              <a:gd name="adj" fmla="val 12000"/>
            </a:avLst>
          </a:prstGeom>
          <a:solidFill>
            <a:srgbClr val="F0F8F3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38528"/>
            <a:ext cx="19202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00785A"/>
                </a:solidFill>
                <a:latin typeface="Arial"/>
              </a:rPr>
              <a:t>Tipping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86000"/>
            <a:ext cx="2971800" cy="233172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Low initial capacity and high overload damage create collapse.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Collapse is a region, not a random accident.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That is why forum health must be part of the policy objective.</a:t>
            </a:r>
          </a:p>
        </p:txBody>
      </p:sp>
      <p:pic>
        <p:nvPicPr>
          <p:cNvPr id="10" name="Picture 9" descr="collapse_boundary_c1_x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663440"/>
            <a:ext cx="3154680" cy="117043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0" y="1691640"/>
            <a:ext cx="3063240" cy="4480560"/>
          </a:xfrm>
          <a:prstGeom prst="roundRect">
            <a:avLst>
              <a:gd name="adj" fmla="val 12000"/>
            </a:avLst>
          </a:prstGeom>
          <a:solidFill>
            <a:srgbClr val="EEF4FD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9744" y="1938528"/>
            <a:ext cx="22860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Arial"/>
              </a:rPr>
              <a:t>Key 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286000"/>
            <a:ext cx="2423160" cy="233172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Which queries are deferred matters as much as how many are deferred.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The rho = 0 ablation shows that the targeted advantage comes from novelty.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The model shows a clear collapse region in the parameter space.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1691640"/>
            <a:ext cx="3291840" cy="4480560"/>
          </a:xfrm>
          <a:prstGeom prst="roundRect">
            <a:avLst>
              <a:gd name="adj" fmla="val 12000"/>
            </a:avLst>
          </a:prstGeom>
          <a:solidFill>
            <a:srgbClr val="FFF5EC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1938528"/>
            <a:ext cx="19202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rial"/>
              </a:rPr>
              <a:t>Future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286000"/>
            <a:ext cx="2651760" cy="192024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Calibrate with real forum data.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Learn policies rather than hand-design them.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Model multiple forums and heterogeneous experts.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4983480"/>
            <a:ext cx="256032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</a:rPr>
              <a:t>References: Taitler et al. (2025); Chow (1970); El-Yaniv (2010); Madras et al. (2018); Hardin (1968); Ostrom (1990).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276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Refs: collapse_boundary_c1_xi.csv; policy_compare_extended.csv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6309360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4472C4"/>
                </a:solidFill>
                <a:latin typeface="Arial"/>
              </a:rPr>
              <a:t>Game Theory 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75720" y="6254496"/>
            <a:ext cx="31089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48872" y="6300216"/>
            <a:ext cx="146304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4472C4"/>
                </a:solidFill>
                <a:latin typeface="Arial"/>
              </a:rPr>
              <a:t>11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62472"/>
            <a:ext cx="731520" cy="376331"/>
          </a:xfrm>
          <a:prstGeom prst="rect">
            <a:avLst/>
          </a:prstGeom>
        </p:spPr>
      </p:pic>
      <p:pic>
        <p:nvPicPr>
          <p:cNvPr id="23" name="Picture 22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2" y="5650992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94183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F2D48"/>
                </a:solidFill>
                <a:latin typeface="Arial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96926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Key sources used in the presentation and project report.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078992"/>
            <a:ext cx="1325880" cy="219456"/>
          </a:xfrm>
          <a:prstGeom prst="roundRect">
            <a:avLst>
              <a:gd name="adj" fmla="val 22000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115568"/>
            <a:ext cx="1024128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5074920" cy="4480560"/>
          </a:xfrm>
          <a:prstGeom prst="roundRect">
            <a:avLst>
              <a:gd name="adj" fmla="val 12000"/>
            </a:avLst>
          </a:prstGeom>
          <a:solidFill>
            <a:srgbClr val="EEF4FD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38528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Arial"/>
              </a:rPr>
              <a:t>Core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04288"/>
            <a:ext cx="42062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Arial"/>
              </a:rPr>
              <a:t>Taitler, S. et al. (2025). Selective Response Strategies for GenAI.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063240"/>
            <a:ext cx="23774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Arial"/>
              </a:rPr>
              <a:t>Selective response / defer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419856"/>
            <a:ext cx="4297680" cy="11430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282828"/>
                </a:solidFill>
                <a:latin typeface="Arial"/>
              </a:rPr>
              <a:t>Chow (1970)
El-Yaniv (2010)
Madras et al. (2018)
Mozannar and Sontag (2020)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691640"/>
            <a:ext cx="5074920" cy="4480560"/>
          </a:xfrm>
          <a:prstGeom prst="roundRect">
            <a:avLst>
              <a:gd name="adj" fmla="val 12000"/>
            </a:avLst>
          </a:prstGeom>
          <a:solidFill>
            <a:srgbClr val="F0F8F3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938528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Arial"/>
              </a:rPr>
              <a:t>Congestion /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304288"/>
            <a:ext cx="411480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282828"/>
                </a:solidFill>
                <a:latin typeface="Arial"/>
              </a:rPr>
              <a:t>Hardin (1968)
Ostrom (1990)
Vickrey (1969)
Kleinrock (1975)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3794760"/>
            <a:ext cx="25603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Arial"/>
              </a:rPr>
              <a:t>Project artifacts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4160520"/>
            <a:ext cx="429768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  <a:latin typeface="Arial"/>
              </a:rPr>
              <a:t>paper/main.tex
sim/results/extra/seed_robustness.csv
sim/results/extra/matched_answered_compare.csv
sim/results/extra/policy_compare_extended.csv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276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Refs: full bibliography in refs.bib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6309360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4472C4"/>
                </a:solidFill>
                <a:latin typeface="Arial"/>
              </a:rPr>
              <a:t>Game Theory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75720" y="6254496"/>
            <a:ext cx="31089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48872" y="6300216"/>
            <a:ext cx="146304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4472C4"/>
                </a:solidFill>
                <a:latin typeface="Arial"/>
              </a:rPr>
              <a:t>12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062472"/>
            <a:ext cx="731520" cy="376331"/>
          </a:xfrm>
          <a:prstGeom prst="rect">
            <a:avLst/>
          </a:prstGeom>
        </p:spPr>
      </p:pic>
      <p:pic>
        <p:nvPicPr>
          <p:cNvPr id="22" name="Picture 21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50992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45720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1F2D48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8288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4472C4"/>
                </a:solidFill>
                <a:latin typeface="Arial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1F2D48"/>
                </a:solidFill>
                <a:latin typeface="Arial"/>
              </a:rPr>
              <a:t>Dikshant Gupta (24108)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889504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1F2D48"/>
                </a:solidFill>
                <a:latin typeface="Arial"/>
              </a:rPr>
              <a:t>Paras Raina (24170)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097280"/>
            <a:ext cx="4937760" cy="4297680"/>
          </a:xfrm>
          <a:prstGeom prst="roundRect">
            <a:avLst>
              <a:gd name="adj" fmla="val 12000"/>
            </a:avLst>
          </a:prstGeom>
          <a:solidFill>
            <a:srgbClr val="EEF4FD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olicy_compare_extended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53312"/>
            <a:ext cx="4480560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3276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6309360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4472C4"/>
                </a:solidFill>
                <a:latin typeface="Arial"/>
              </a:rPr>
              <a:t>Game Theory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75720" y="6254496"/>
            <a:ext cx="31089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48872" y="6300216"/>
            <a:ext cx="146304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4472C4"/>
                </a:solidFill>
                <a:latin typeface="Arial"/>
              </a:rPr>
              <a:t>13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62472"/>
            <a:ext cx="731520" cy="376331"/>
          </a:xfrm>
          <a:prstGeom prst="rect">
            <a:avLst/>
          </a:prstGeom>
        </p:spPr>
      </p:pic>
      <p:pic>
        <p:nvPicPr>
          <p:cNvPr id="14" name="Picture 13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2" y="5650992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4883</TotalTime>
  <Words>10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Bhardwaj</dc:creator>
  <dc:description/>
  <cp:lastModifiedBy>Yadati Narahari</cp:lastModifiedBy>
  <cp:revision>309</cp:revision>
  <dcterms:created xsi:type="dcterms:W3CDTF">2023-05-03T05:38:05Z</dcterms:created>
  <dcterms:modified xsi:type="dcterms:W3CDTF">2026-04-09T15:58:56Z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67</vt:i4>
  </property>
  <property fmtid="{D5CDD505-2E9C-101B-9397-08002B2CF9AE}" pid="3" name="PresentationFormat">
    <vt:lpwstr>Widescreen</vt:lpwstr>
  </property>
  <property fmtid="{D5CDD505-2E9C-101B-9397-08002B2CF9AE}" pid="4" name="Slides">
    <vt:i4>71</vt:i4>
  </property>
</Properties>
</file>