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566928"/>
            <a:ext cx="164592" cy="5212080"/>
          </a:xfrm>
          <a:prstGeom prst="rect">
            <a:avLst/>
          </a:prstGeom>
          <a:solidFill>
            <a:srgbClr val="21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Selective Response for
GenAI Under Forum Congestion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48716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DE4EE"/>
                </a:solidFill>
                <a:latin typeface="Aptos"/>
              </a:rPr>
              <a:t>Game Theory 2026 mini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98094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Dikshant Gupta (24108)   |   Paras Raina (24170)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3192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DE4EE"/>
                </a:solidFill>
                <a:latin typeface="Aptos"/>
              </a:rPr>
              <a:t>Professional deck: intuition + model + results + limitations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932688"/>
            <a:ext cx="468172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ed_robustnes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1078992"/>
            <a:ext cx="4297680" cy="144475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29400" y="3154680"/>
            <a:ext cx="468172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llapse_boundary_c1_x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3300984"/>
            <a:ext cx="4297680" cy="1444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11696" y="535838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Question: should GenAI answer now, or preserve the forum that creates future knowledge?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10896"/>
            <a:ext cx="11475720" cy="109728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1417320" cy="91440"/>
          </a:xfrm>
          <a:prstGeom prst="rect">
            <a:avLst/>
          </a:prstGeom>
          <a:solidFill>
            <a:srgbClr val="21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43D"/>
                </a:solidFill>
                <a:latin typeface="Aptos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The key tradeoff is immediate convenience versus long-run knowledge creation.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078992" cy="219456"/>
          </a:xfrm>
          <a:prstGeom prst="roundRect">
            <a:avLst>
              <a:gd name="adj" fmla="val 22000"/>
            </a:avLst>
          </a:prstGeom>
          <a:solidFill>
            <a:srgbClr val="21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63624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Motivation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379476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084831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7C7A"/>
                </a:solidFill>
                <a:latin typeface="Aptos"/>
              </a:rPr>
              <a:t>Intuition for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32304"/>
            <a:ext cx="3154680" cy="260604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If AI answers everything, users stop creating human discussions.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Those missing discussions reduce future signal that AI could have learned from.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But if AI defers too much, the human forum gets overloaded and less useful.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847088"/>
            <a:ext cx="7132320" cy="3840480"/>
          </a:xfrm>
          <a:prstGeom prst="roundRect">
            <a:avLst>
              <a:gd name="adj" fmla="val 8000"/>
            </a:avLst>
          </a:prstGeom>
          <a:solidFill>
            <a:srgbClr val="EAF6F5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2788920"/>
            <a:ext cx="114300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17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93408" y="2788920"/>
            <a:ext cx="114300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7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7616" y="2788920"/>
            <a:ext cx="123444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347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13264" y="2788920"/>
            <a:ext cx="1005840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B7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096" y="3017520"/>
            <a:ext cx="502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43D"/>
                </a:solidFill>
                <a:latin typeface="Aptos"/>
              </a:rPr>
              <a:t>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3017520"/>
            <a:ext cx="5029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43D"/>
                </a:solidFill>
                <a:latin typeface="Aptos"/>
              </a:rPr>
              <a:t>GenAI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3017520"/>
            <a:ext cx="5669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43D"/>
                </a:solidFill>
                <a:latin typeface="Aptos"/>
              </a:rPr>
              <a:t>Forum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9296" y="3017520"/>
            <a:ext cx="365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43D"/>
                </a:solidFill>
                <a:latin typeface="Aptos"/>
              </a:rPr>
              <a:t>C_t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935224"/>
            <a:ext cx="20116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17C7A"/>
                </a:solidFill>
                <a:latin typeface="Aptos"/>
              </a:rP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2935224"/>
            <a:ext cx="20116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67627"/>
                </a:solidFill>
                <a:latin typeface="Aptos"/>
              </a:rP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935224"/>
            <a:ext cx="20116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7A54"/>
                </a:solidFill>
                <a:latin typeface="Aptos"/>
              </a:rPr>
              <a:t>-&gt;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416052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8243D"/>
                </a:solidFill>
                <a:latin typeface="Aptos"/>
              </a:rPr>
              <a:t>So selective response is not only a service decision. It is a system-design decision.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707E"/>
                </a:solidFill>
                <a:latin typeface="Aptos"/>
              </a:rPr>
              <a:t>Refs: Taitler et al. (2025); Hardin (1968); Ostrom (1990)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243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10896"/>
            <a:ext cx="11475720" cy="109728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1417320" cy="91440"/>
          </a:xfrm>
          <a:prstGeom prst="rect">
            <a:avLst/>
          </a:prstGeom>
          <a:solidFill>
            <a:srgbClr val="D67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43D"/>
                </a:solidFill>
                <a:latin typeface="Aptos"/>
              </a:rPr>
              <a:t>Why This Problem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The same mechanism appears in education, developer communities, and product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078992" cy="219456"/>
          </a:xfrm>
          <a:prstGeom prst="roundRect">
            <a:avLst>
              <a:gd name="adj" fmla="val 22000"/>
            </a:avLst>
          </a:prstGeom>
          <a:solidFill>
            <a:srgbClr val="D67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63624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38528"/>
            <a:ext cx="3246120" cy="3794760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19456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67627"/>
                </a:solidFill>
                <a:latin typeface="Aptos"/>
              </a:rPr>
              <a:t>Course forums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761488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243D"/>
                </a:solidFill>
                <a:latin typeface="Aptos"/>
              </a:rPr>
              <a:t>Too much AI can reduce the student explanations that help future batches.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846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Human discussion here is a productive resource.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38528"/>
            <a:ext cx="3246120" cy="379476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19456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85C91"/>
                </a:solidFill>
                <a:latin typeface="Aptos"/>
              </a:rPr>
              <a:t>Developer forums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761488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243D"/>
                </a:solidFill>
                <a:latin typeface="Aptos"/>
              </a:rPr>
              <a:t>Overloaded expert communities create slower and lower-quality answers.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4846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Human discussion here is a productive resource.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938528"/>
            <a:ext cx="3246120" cy="3794760"/>
          </a:xfrm>
          <a:prstGeom prst="roundRect">
            <a:avLst>
              <a:gd name="adj" fmla="val 8000"/>
            </a:avLst>
          </a:prstGeom>
          <a:solidFill>
            <a:srgbClr val="ECF7F0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19456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47A54"/>
                </a:solidFill>
                <a:latin typeface="Aptos"/>
              </a:rPr>
              <a:t>Product communities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761488"/>
            <a:ext cx="2697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243D"/>
                </a:solidFill>
                <a:latin typeface="Aptos"/>
              </a:rPr>
              <a:t>Short-run automation may weaken the long-run human knowledge base.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4846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Human discussion here is a productive resource.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707E"/>
                </a:solidFill>
                <a:latin typeface="Aptos"/>
              </a:rPr>
              <a:t>Refs: Horvitz (1999); Amershi et al. (2014); Bansal et al. (2021)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243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10896"/>
            <a:ext cx="11475720" cy="109728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1417320" cy="91440"/>
          </a:xfrm>
          <a:prstGeom prst="rect">
            <a:avLst/>
          </a:prstGeom>
          <a:solidFill>
            <a:srgbClr val="28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43D"/>
                </a:solidFill>
                <a:latin typeface="Aptos"/>
              </a:rPr>
              <a:t>Literature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Our project combines three strands of prior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078992" cy="219456"/>
          </a:xfrm>
          <a:prstGeom prst="roundRect">
            <a:avLst>
              <a:gd name="adj" fmla="val 22000"/>
            </a:avLst>
          </a:prstGeom>
          <a:solidFill>
            <a:srgbClr val="28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63624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Literature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3246120" cy="3794760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157984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85C91"/>
                </a:solidFill>
                <a:latin typeface="Aptos"/>
              </a:rPr>
              <a:t>Selective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97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243D"/>
                </a:solidFill>
                <a:latin typeface="Aptos"/>
              </a:rPr>
              <a:t>Chow (1970)
El-Yaniv (2010)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0690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7707E"/>
                </a:solidFill>
                <a:latin typeface="Aptos"/>
              </a:rPr>
              <a:t>When should the model abstain?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20240"/>
            <a:ext cx="3246120" cy="3794760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2157984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67627"/>
                </a:solidFill>
                <a:latin typeface="Aptos"/>
              </a:rPr>
              <a:t>Learning to defer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697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243D"/>
                </a:solidFill>
                <a:latin typeface="Aptos"/>
              </a:rPr>
              <a:t>Madras et al. (2018)
Mozannar and Sontag (2020)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40690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7707E"/>
                </a:solidFill>
                <a:latin typeface="Aptos"/>
              </a:rPr>
              <a:t>When should a human handle the task?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920240"/>
            <a:ext cx="3246120" cy="3794760"/>
          </a:xfrm>
          <a:prstGeom prst="roundRect">
            <a:avLst>
              <a:gd name="adj" fmla="val 8000"/>
            </a:avLst>
          </a:prstGeom>
          <a:solidFill>
            <a:srgbClr val="ECF7F0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2157984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47A54"/>
                </a:solidFill>
                <a:latin typeface="Aptos"/>
              </a:rPr>
              <a:t>Congestion / commons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69748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8243D"/>
                </a:solidFill>
                <a:latin typeface="Aptos"/>
              </a:rPr>
              <a:t>Hardin (1968)
Ostrom (1990)
Kleinrock (1975)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406908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7707E"/>
                </a:solidFill>
                <a:latin typeface="Aptos"/>
              </a:rPr>
              <a:t>What happens when shared systems are overloaded?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733288"/>
            <a:ext cx="10012680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5833872"/>
            <a:ext cx="95097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8243D"/>
                </a:solidFill>
                <a:latin typeface="Aptos"/>
              </a:rPr>
              <a:t>Gap we address: prior selective-response work does not model a congestible human forum with endogenous capacity.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707E"/>
                </a:solidFill>
                <a:latin typeface="Aptos"/>
              </a:rPr>
              <a:t>Refs: Chow (1970); El-Yaniv (2010); Madras et al. (2018); Mozannar and Sontag (2020); Hardin (1968); Ostrom (1990)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243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10896"/>
            <a:ext cx="11475720" cy="109728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1417320" cy="91440"/>
          </a:xfrm>
          <a:prstGeom prst="rect">
            <a:avLst/>
          </a:prstGeom>
          <a:solidFill>
            <a:srgbClr val="D67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43D"/>
                </a:solidFill>
                <a:latin typeface="Aptos"/>
              </a:rPr>
              <a:t>Base Paper And Its 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This part is prior work; our project starts from its missing systems detail.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078992" cy="219456"/>
          </a:xfrm>
          <a:prstGeom prst="roundRect">
            <a:avLst>
              <a:gd name="adj" fmla="val 22000"/>
            </a:avLst>
          </a:prstGeom>
          <a:solidFill>
            <a:srgbClr val="D67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63624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Prior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01952"/>
            <a:ext cx="3703320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3969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67627"/>
                </a:solidFill>
                <a:latin typeface="Aptos"/>
              </a:rPr>
              <a:t>Base paper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3063240" cy="233172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Selective response can improve long-run learning.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Reason: some unanswered queries create future human knowledge.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So always-answering is not automatically optimal.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901952"/>
            <a:ext cx="2651760" cy="3822191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213969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67627"/>
                </a:solidFill>
                <a:latin typeface="Aptos"/>
              </a:rPr>
              <a:t>Simple intuition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02352" y="2816352"/>
            <a:ext cx="160020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67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02352" y="4187952"/>
            <a:ext cx="1600200" cy="6583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347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3044952"/>
            <a:ext cx="9144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43D"/>
                </a:solidFill>
                <a:latin typeface="Aptos"/>
              </a:rPr>
              <a:t>Always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4416552"/>
            <a:ext cx="105156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8243D"/>
                </a:solidFill>
                <a:latin typeface="Aptos"/>
              </a:rPr>
              <a:t>Selective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8304" y="513892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8243D"/>
                </a:solidFill>
                <a:latin typeface="Aptos"/>
              </a:rPr>
              <a:t>Less answering can sometimes create more future learning.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901952"/>
            <a:ext cx="4251960" cy="3822191"/>
          </a:xfrm>
          <a:prstGeom prst="roundRect">
            <a:avLst>
              <a:gd name="adj" fmla="val 8000"/>
            </a:avLst>
          </a:prstGeom>
          <a:solidFill>
            <a:srgbClr val="FCEEEE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2139696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73D3D"/>
                </a:solidFill>
                <a:latin typeface="Aptos"/>
              </a:rPr>
              <a:t>What the base paper leaves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7536" y="2487168"/>
            <a:ext cx="3611880" cy="237744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The forum is not modeled as capacity-limited.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There is no overload damage or collapse dynamic.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It does not isolate volume effects from composition effects.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707E"/>
                </a:solidFill>
                <a:latin typeface="Aptos"/>
              </a:rPr>
              <a:t>Refs: Taitler et al. (2025)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243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10896"/>
            <a:ext cx="11475720" cy="109728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1417320" cy="91440"/>
          </a:xfrm>
          <a:prstGeom prst="rect">
            <a:avLst/>
          </a:prstGeom>
          <a:solidFill>
            <a:srgbClr val="21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43D"/>
                </a:solidFill>
                <a:latin typeface="Aptos"/>
              </a:rPr>
              <a:t>Our Model: Intuition And Mathematics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We keep the simulator reduced-form, but we make the mechanism explicit.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078992" cy="219456"/>
          </a:xfrm>
          <a:prstGeom prst="roundRect">
            <a:avLst>
              <a:gd name="adj" fmla="val 22000"/>
            </a:avLst>
          </a:prstGeom>
          <a:solidFill>
            <a:srgbClr val="217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63624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83664"/>
            <a:ext cx="3749039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2140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7C7A"/>
                </a:solidFill>
                <a:latin typeface="Aptos"/>
              </a:rPr>
              <a:t>Economic intuition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3108960" cy="256032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Users choose between GenAI and the forum.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Forum output creates future knowledge stock S_t.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If load exceeds capacity C_t, useful throughput is discounted.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Repeated overload reduces future capacity.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1883664"/>
            <a:ext cx="7196328" cy="3840480"/>
          </a:xfrm>
          <a:prstGeom prst="roundRect">
            <a:avLst>
              <a:gd name="adj" fmla="val 8000"/>
            </a:avLst>
          </a:prstGeom>
          <a:solidFill>
            <a:srgbClr val="EAF6F5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084831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7C7A"/>
                </a:solidFill>
                <a:latin typeface="Aptos"/>
              </a:rPr>
              <a:t>Core equations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42032"/>
            <a:ext cx="6492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8243D"/>
                </a:solidFill>
                <a:latin typeface="Consolas"/>
              </a:rPr>
              <a:t>m_t = 1 - p_t^answered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944368"/>
            <a:ext cx="6492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8243D"/>
                </a:solidFill>
                <a:latin typeface="Consolas"/>
              </a:rPr>
              <a:t>G_t = kappa * throughput_t * novelty_factor_t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346704"/>
            <a:ext cx="6492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8243D"/>
                </a:solidFill>
                <a:latin typeface="Consolas"/>
              </a:rPr>
              <a:t>S_{t+1} = S_t + G_t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749039"/>
            <a:ext cx="6492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243D"/>
                </a:solidFill>
                <a:latin typeface="Consolas"/>
              </a:rPr>
              <a:t>C_{t+1} = max{0, (1-delta)C_t + eta R - xi max(m_t - C_t, 0)}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590288"/>
            <a:ext cx="6309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7707E"/>
                </a:solidFill>
                <a:latin typeface="Aptos"/>
              </a:rPr>
              <a:t>Professor-facing intuition: xi controls forum fragility, lambda controls how useful overloaded traffic remains, and rho controls how much novelty matters.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707E"/>
                </a:solidFill>
                <a:latin typeface="Aptos"/>
              </a:rPr>
              <a:t>Refs: model summarized from paper/main.tex and simulator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243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10896"/>
            <a:ext cx="11475720" cy="109728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1417320" cy="91440"/>
          </a:xfrm>
          <a:prstGeom prst="rect">
            <a:avLst/>
          </a:prstGeom>
          <a:solidFill>
            <a:srgbClr val="28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43D"/>
                </a:solidFill>
                <a:latin typeface="Aptos"/>
              </a:rPr>
              <a:t>Experiment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We test both the base intuition and our new congestion-aware mechanisms.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078992" cy="219456"/>
          </a:xfrm>
          <a:prstGeom prst="roundRect">
            <a:avLst>
              <a:gd name="adj" fmla="val 22000"/>
            </a:avLst>
          </a:prstGeom>
          <a:solidFill>
            <a:srgbClr val="28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63624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01952"/>
            <a:ext cx="3657600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3969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85C91"/>
                </a:solidFill>
                <a:latin typeface="Aptos"/>
              </a:rPr>
              <a:t>Policies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3017520" cy="242316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Uniform throttling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Targeted novelty policy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Capacity-aware baseline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Novelty + capacity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901952"/>
            <a:ext cx="3383280" cy="3822191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139696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85C91"/>
                </a:solidFill>
                <a:latin typeface="Aptos"/>
              </a:rPr>
              <a:t>Regimes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487168"/>
            <a:ext cx="2743200" cy="201168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Stable: C1 = 0.85, xi = 0.04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Mid: C1 = 0.60, xi = 0.10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Collapse: C1 = 0.35, xi = 0.35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30 novelty seeds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901952"/>
            <a:ext cx="3657600" cy="3822191"/>
          </a:xfrm>
          <a:prstGeom prst="roundRect">
            <a:avLst>
              <a:gd name="adj" fmla="val 8000"/>
            </a:avLst>
          </a:prstGeom>
          <a:solidFill>
            <a:srgbClr val="ECF7F0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13969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7A54"/>
                </a:solidFill>
                <a:latin typeface="Aptos"/>
              </a:rPr>
              <a:t>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487168"/>
            <a:ext cx="2971800" cy="214884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Final learning S_T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Minimum capacity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Overload time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Average answered share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Welfare and revenue proxies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707E"/>
                </a:solidFill>
                <a:latin typeface="Aptos"/>
              </a:rPr>
              <a:t>Refs: sim/results/summary.md; sim/results/extra/summary_extra.md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243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10896"/>
            <a:ext cx="11475720" cy="109728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1417320" cy="91440"/>
          </a:xfrm>
          <a:prstGeom prst="rect">
            <a:avLst/>
          </a:prstGeom>
          <a:solidFill>
            <a:srgbClr val="D67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43D"/>
                </a:solidFill>
                <a:latin typeface="Aptos"/>
              </a:rPr>
              <a:t>Main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Novelty-aware routing improves learning and often reduces overload.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078992" cy="219456"/>
          </a:xfrm>
          <a:prstGeom prst="roundRect">
            <a:avLst>
              <a:gd name="adj" fmla="val 22000"/>
            </a:avLst>
          </a:prstGeom>
          <a:solidFill>
            <a:srgbClr val="D67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63624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01952"/>
            <a:ext cx="3108960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3969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67627"/>
                </a:solidFill>
                <a:latin typeface="Aptos"/>
              </a:rPr>
              <a:t>Headline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2560320" cy="242316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Stable: 26.15 -&gt; 36.29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Mid: 19.60 -&gt; 31.56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Collapse: 6.68 -&gt; 9.54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Mid overload: 40 -&gt;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93776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7707E"/>
                </a:solidFill>
                <a:latin typeface="Aptos"/>
              </a:rPr>
              <a:t>Interpretation: the forum receives more useful traffic.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0208" y="1901952"/>
            <a:ext cx="3840480" cy="3822191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eed_robustness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066543"/>
            <a:ext cx="3520440" cy="2971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28431" y="1901952"/>
            <a:ext cx="3721608" cy="3822191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ed_robustness_over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2066543"/>
            <a:ext cx="3401568" cy="2971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6400800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707E"/>
                </a:solidFill>
                <a:latin typeface="Aptos"/>
              </a:rPr>
              <a:t>Refs: seed_robustness.csv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243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10896"/>
            <a:ext cx="11475720" cy="109728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1417320" cy="91440"/>
          </a:xfrm>
          <a:prstGeom prst="rect">
            <a:avLst/>
          </a:prstGeom>
          <a:solidFill>
            <a:srgbClr val="B7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43D"/>
                </a:solidFill>
                <a:latin typeface="Aptos"/>
              </a:rPr>
              <a:t>Mechanism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We explicitly test whether the gain is composition-driven.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078992" cy="219456"/>
          </a:xfrm>
          <a:prstGeom prst="roundRect">
            <a:avLst>
              <a:gd name="adj" fmla="val 22000"/>
            </a:avLst>
          </a:prstGeom>
          <a:solidFill>
            <a:srgbClr val="B7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63624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01952"/>
            <a:ext cx="2926080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39696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73D3D"/>
                </a:solidFill>
                <a:latin typeface="Aptos"/>
              </a:rPr>
              <a:t>Two key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2377440" cy="233172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Matched answered-share control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rho = 0 ablation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If both pass, the novelty mechanism is credible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901952"/>
            <a:ext cx="3703320" cy="3822191"/>
          </a:xfrm>
          <a:prstGeom prst="roundRect">
            <a:avLst>
              <a:gd name="adj" fmla="val 8000"/>
            </a:avLst>
          </a:prstGeom>
          <a:solidFill>
            <a:srgbClr val="FCEEEE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tched_answered_compare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2066543"/>
            <a:ext cx="3383280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680960" y="1901952"/>
            <a:ext cx="4069080" cy="3822191"/>
          </a:xfrm>
          <a:prstGeom prst="roundRect">
            <a:avLst>
              <a:gd name="adj" fmla="val 8000"/>
            </a:avLst>
          </a:prstGeom>
          <a:solidFill>
            <a:srgbClr val="FCEEEE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rho_ablation_gap_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2066543"/>
            <a:ext cx="3749039" cy="2971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6400800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707E"/>
                </a:solidFill>
                <a:latin typeface="Aptos"/>
              </a:rPr>
              <a:t>Refs: matched_answered_compare.csv; rho_ablation.csv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243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10896"/>
            <a:ext cx="11475720" cy="109728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1417320" cy="91440"/>
          </a:xfrm>
          <a:prstGeom prst="rect">
            <a:avLst/>
          </a:prstGeom>
          <a:solidFill>
            <a:srgbClr val="34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43D"/>
                </a:solidFill>
                <a:latin typeface="Aptos"/>
              </a:rPr>
              <a:t>Tipping And Stronger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Congestion feedback helps, but novelty + capacity works best in the mid regime.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078992" cy="219456"/>
          </a:xfrm>
          <a:prstGeom prst="roundRect">
            <a:avLst>
              <a:gd name="adj" fmla="val 22000"/>
            </a:avLst>
          </a:prstGeom>
          <a:solidFill>
            <a:srgbClr val="347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63624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Phase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01952"/>
            <a:ext cx="2926080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39696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7A54"/>
                </a:solidFill>
                <a:latin typeface="Aptos"/>
              </a:rPr>
              <a:t>Policy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2331720" cy="233172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Uniform: 19.60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Capacity-aware: 22.52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Targeted novelty: 31.56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Novelty + capacity: 33.23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901952"/>
            <a:ext cx="3794760" cy="3822191"/>
          </a:xfrm>
          <a:prstGeom prst="roundRect">
            <a:avLst>
              <a:gd name="adj" fmla="val 8000"/>
            </a:avLst>
          </a:prstGeom>
          <a:solidFill>
            <a:srgbClr val="ECF7F0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llapse_boundary_c1_x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2066543"/>
            <a:ext cx="3474720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72400" y="1901952"/>
            <a:ext cx="3977639" cy="3822191"/>
          </a:xfrm>
          <a:prstGeom prst="roundRect">
            <a:avLst>
              <a:gd name="adj" fmla="val 8000"/>
            </a:avLst>
          </a:prstGeom>
          <a:solidFill>
            <a:srgbClr val="ECF7F0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olicy_compare_extended_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2066543"/>
            <a:ext cx="3657600" cy="2971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6400800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707E"/>
                </a:solidFill>
                <a:latin typeface="Aptos"/>
              </a:rPr>
              <a:t>Refs: collapse_boundary_c1_xi.csv; policy_compare_extended.csv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243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10896"/>
            <a:ext cx="11475720" cy="109728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512064"/>
            <a:ext cx="1417320" cy="91440"/>
          </a:xfrm>
          <a:prstGeom prst="rect">
            <a:avLst/>
          </a:prstGeom>
          <a:solidFill>
            <a:srgbClr val="D67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355080"/>
            <a:ext cx="11475720" cy="18288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74980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8243D"/>
                </a:solidFill>
                <a:latin typeface="Aptos"/>
              </a:rPr>
              <a:t>Summary And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33856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7707E"/>
                </a:solidFill>
                <a:latin typeface="Aptos"/>
              </a:rPr>
              <a:t>End by separating clearly what comes from the base paper and what comes from 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1078992" cy="219456"/>
          </a:xfrm>
          <a:prstGeom prst="roundRect">
            <a:avLst>
              <a:gd name="adj" fmla="val 22000"/>
            </a:avLst>
          </a:prstGeom>
          <a:solidFill>
            <a:srgbClr val="D67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63624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01952"/>
            <a:ext cx="3840480" cy="382219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139696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67627"/>
                </a:solidFill>
                <a:latin typeface="Aptos"/>
              </a:rPr>
              <a:t>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3200400" cy="233172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Base paper: selective response can improve long-run learning.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Our contribution: forums are congestible and capacity-limited.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Main lesson: defer the right traffic, not just more traffic.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901952"/>
            <a:ext cx="3246120" cy="3822191"/>
          </a:xfrm>
          <a:prstGeom prst="roundRect">
            <a:avLst>
              <a:gd name="adj" fmla="val 8000"/>
            </a:avLst>
          </a:prstGeom>
          <a:solidFill>
            <a:srgbClr val="FFF3E7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9472" y="2139696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67627"/>
                </a:solidFill>
                <a:latin typeface="Aptos"/>
              </a:rP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487168"/>
            <a:ext cx="2606040" cy="214884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Use real forum data for calibration.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Learn routing policies.</a:t>
            </a:r>
          </a:p>
          <a:p>
            <a:pPr>
              <a:spcAft>
                <a:spcPts val="300"/>
              </a:spcAft>
              <a:defRPr sz="1800">
                <a:solidFill>
                  <a:srgbClr val="18243D"/>
                </a:solidFill>
                <a:latin typeface="Aptos"/>
              </a:defRPr>
            </a:pPr>
            <a:r>
              <a:t>Model multiple forums and heterogeneous experts.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901952"/>
            <a:ext cx="3566160" cy="3822191"/>
          </a:xfrm>
          <a:prstGeom prst="roundRect">
            <a:avLst>
              <a:gd name="adj" fmla="val 8000"/>
            </a:avLst>
          </a:prstGeom>
          <a:solidFill>
            <a:srgbClr val="ECF3FA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213969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85C91"/>
                </a:solidFill>
                <a:latin typeface="Aptos"/>
              </a:rPr>
              <a:t>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487168"/>
            <a:ext cx="2880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8243D"/>
                </a:solidFill>
                <a:latin typeface="Aptos"/>
              </a:rPr>
              <a:t>Taitler et al. (2025)
Chow (1970)
El-Yaniv (2010)
Madras et al. (2018)
Mozannar and Sontag (2020)
Hardin (1968)
Ostrom (1990)
Vickrey (1969)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91440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7707E"/>
                </a:solidFill>
                <a:latin typeface="Aptos"/>
              </a:rPr>
              <a:t>Refs: full bibliography in refs.bib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11712" y="6291072"/>
            <a:ext cx="310896" cy="23774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03152" y="6345936"/>
            <a:ext cx="10972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8243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960120"/>
            <a:ext cx="470916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08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8243D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22402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17C7A"/>
                </a:solidFill>
                <a:latin typeface="Aptos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88036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243D"/>
                </a:solidFill>
                <a:latin typeface="Aptos"/>
              </a:rPr>
              <a:t>Dikshant Gupta (24108)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2004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8243D"/>
                </a:solidFill>
                <a:latin typeface="Aptos"/>
              </a:rPr>
              <a:t>Paras Raina (24170)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170432"/>
            <a:ext cx="470916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licy_compare_extended_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389888"/>
            <a:ext cx="4297680" cy="2697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482803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Final takeaway: novelty-aware routing is strongest when combined with congestion response.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